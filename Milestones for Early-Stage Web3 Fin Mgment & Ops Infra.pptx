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1.svg" ContentType="image/svg+xml"/>
  <Override PartName="/ppt/media/image12.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60" r:id="rId5"/>
    <p:sldId id="262" r:id="rId6"/>
    <p:sldId id="263" r:id="rId7"/>
    <p:sldId id="266" r:id="rId8"/>
  </p:sldIdLst>
  <p:sldSz cx="12192000" cy="6858000"/>
  <p:notesSz cx="6858000" cy="9144000"/>
  <p:custDataLst>
    <p:tags r:id="rId1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6" userDrawn="1">
          <p15:clr>
            <a:srgbClr val="A4A3A4"/>
          </p15:clr>
        </p15:guide>
        <p15:guide id="2" pos="37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46"/>
        <p:guide pos="376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63.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外汇远期合约（FX Forward Contracts）：企业可以与银行或其他金融机构签订远期合约，锁定未来的汇率，这样就可以提前确定兑换价格，避免未来汇率波动的影响。这种合约规定了在未来特定日期以预先确定的汇率买入或卖出一定数量的外币。</a:t>
            </a:r>
            <a:endParaRPr lang="zh-CN" altLang="en-US"/>
          </a:p>
          <a:p>
            <a:endParaRPr lang="zh-CN" altLang="en-US"/>
          </a:p>
          <a:p>
            <a:r>
              <a:rPr lang="zh-CN" altLang="en-US"/>
              <a:t>货币互换（Currency Swaps）：货币互换允许企业在不同的时间点交换两种不同货币的现金流。这不仅能够帮助管理汇率风险，还能够在无需立即兑换货币的情况下获得融资或投资机会。</a:t>
            </a:r>
            <a:endParaRPr lang="zh-CN" altLang="en-US"/>
          </a:p>
          <a:p>
            <a:endParaRPr lang="zh-CN" altLang="en-US"/>
          </a:p>
          <a:p>
            <a:r>
              <a:rPr lang="zh-CN" altLang="en-US"/>
              <a:t>期权合约（Options Contracts）：购买货币期权给予企业在未来以预定汇率买卖货币的权利，而不是义务。相比远期合约，期权提供了更多的灵活性，但通常需要支付一定的期权费。</a:t>
            </a:r>
            <a:endParaRPr lang="zh-CN" altLang="en-US"/>
          </a:p>
          <a:p>
            <a:endParaRPr lang="zh-CN" altLang="en-US"/>
          </a:p>
          <a:p>
            <a:r>
              <a:rPr lang="zh-CN" altLang="en-US"/>
              <a:t>自然对冲（Natural Hedging）：通过匹配公司的收入和支出货币，实现一定程度上的自然对冲。例如，如果一家公司的收入主要来自美元，同时它的原材料采购也以美元进行，则可以减少汇率波动对其利润的影响。</a:t>
            </a:r>
            <a:endParaRPr lang="zh-CN" altLang="en-US"/>
          </a:p>
          <a:p>
            <a:endParaRPr lang="zh-CN" altLang="en-US"/>
          </a:p>
          <a:p>
            <a:r>
              <a:rPr lang="zh-CN" altLang="en-US"/>
              <a:t>净额结算（Netting）：通过内部对不同货币的交易进行净额结算，减少实际需要兑换的货币量，从而降低汇率风险。</a:t>
            </a:r>
            <a:endParaRPr lang="zh-CN" altLang="en-US"/>
          </a:p>
          <a:p>
            <a:endParaRPr lang="zh-CN" altLang="en-US"/>
          </a:p>
          <a:p>
            <a:r>
              <a:rPr lang="zh-CN" altLang="en-US"/>
              <a:t>多元化货币持有：通过分散持有的货币种类，减少单一货币波动对公司整体财务状况的影响。</a:t>
            </a:r>
            <a:endParaRPr lang="zh-CN" altLang="en-US"/>
          </a:p>
          <a:p>
            <a:endParaRPr lang="zh-CN" altLang="en-US"/>
          </a:p>
          <a:p>
            <a:r>
              <a:rPr lang="zh-CN" altLang="en-US"/>
              <a:t>利用金融衍生品：除了上述提到的工具，还可以考虑使用外汇期货、外汇掉期等金融衍生产品，这些工具为公司提供了更多风险管理的选择。</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深化技术优势：持续投资于区块链、加密算法等核心技术的研发，提升系统的安全性、效率和可扩展性。开发独特的技术解决方案，比如更快的交易确认速度、更低的交易成本、更高级的安全功能，以区别于竞争对手。</a:t>
            </a:r>
            <a:endParaRPr lang="zh-CN" altLang="en-US"/>
          </a:p>
          <a:p>
            <a:endParaRPr lang="zh-CN" altLang="en-US"/>
          </a:p>
          <a:p>
            <a:r>
              <a:rPr lang="zh-CN" altLang="en-US"/>
              <a:t>优化成本结构：通过技术创新和流程自动化降低运营成本，比如利用智能合约自动执行交易，减少人工干预和错误。同时，寻找合作伙伴，共同承担基础设施建设与维护成本，实现资源共享。</a:t>
            </a:r>
            <a:endParaRPr lang="zh-CN" altLang="en-US"/>
          </a:p>
          <a:p>
            <a:endParaRPr lang="zh-CN" altLang="en-US"/>
          </a:p>
          <a:p>
            <a:r>
              <a:rPr lang="zh-CN" altLang="en-US"/>
              <a:t>强化合规与信任：积极适应全球各地的监管政策，获取必要的许可和认证，增强用户的信任度。建立透明的合规体系，保护用户数据和资产安全，提升品牌形象。</a:t>
            </a:r>
            <a:endParaRPr lang="zh-CN" altLang="en-US"/>
          </a:p>
          <a:p>
            <a:endParaRPr lang="zh-CN" altLang="en-US"/>
          </a:p>
          <a:p>
            <a:r>
              <a:rPr lang="zh-CN" altLang="en-US"/>
              <a:t>市场细分与差异化：识别并专注于特定的市场细分，比如B2B支付、跨境汇款或特定行业的支付解决方案，提供定制化服务，满足特定客户群的独特需求。</a:t>
            </a:r>
            <a:endParaRPr lang="zh-CN" altLang="en-US"/>
          </a:p>
          <a:p>
            <a:endParaRPr lang="zh-CN" altLang="en-US"/>
          </a:p>
          <a:p>
            <a:r>
              <a:rPr lang="zh-CN" altLang="en-US"/>
              <a:t>用户体验与服务：不断提升用户界面友好度，简化交易流程，提供多语言支持和24/7客服，增强用户满意度和忠诚度。利用数据分析了解用户行为，个性化推荐服务和产品。</a:t>
            </a:r>
            <a:endParaRPr lang="zh-CN" altLang="en-US"/>
          </a:p>
          <a:p>
            <a:endParaRPr lang="zh-CN" altLang="en-US"/>
          </a:p>
          <a:p>
            <a:r>
              <a:rPr lang="zh-CN" altLang="en-US"/>
              <a:t>构建生态系统：与其他金融科技公司、传统金融机构、商户和开发者合作，构建一个开放、互惠的生态系统，丰富数字货币的应用场景，提升其实际价值和流通性。</a:t>
            </a:r>
            <a:endParaRPr lang="zh-CN" altLang="en-US"/>
          </a:p>
          <a:p>
            <a:endParaRPr lang="zh-CN" altLang="en-US"/>
          </a:p>
          <a:p>
            <a:r>
              <a:rPr lang="zh-CN" altLang="en-US"/>
              <a:t>持续学习与创新：跟踪行业动态，对新兴趋势和技术保持敏锐，如DeFi（去中心化金融）、NFT（非同质化代币）等，探索新的商业模式和盈利点。</a:t>
            </a:r>
            <a:endParaRPr lang="zh-CN" altLang="en-US"/>
          </a:p>
          <a:p>
            <a:endParaRPr lang="zh-CN" altLang="en-US"/>
          </a:p>
          <a:p>
            <a:r>
              <a:rPr lang="zh-CN" altLang="en-US"/>
              <a:t>灵活应对市场变化：建立快速响应机制，灵活调整策略以应对市场波动和政策变化。保持组织的敏捷性，鼓励内部创新和跨部门协作。</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Days Settlements Receivable Outstanding</a:t>
            </a:r>
            <a:br>
              <a:rPr lang="en-US" altLang="zh-CN"/>
            </a:br>
            <a:br>
              <a:rPr lang="en-US" altLang="zh-CN"/>
            </a:br>
            <a:r>
              <a:rPr lang="zh-CN" altLang="en-US"/>
              <a:t>开放系统，规则设置越机制</a:t>
            </a:r>
            <a:r>
              <a:rPr lang="en-US" altLang="zh-CN"/>
              <a:t> (</a:t>
            </a:r>
            <a:r>
              <a:rPr lang="zh-CN" altLang="en-US"/>
              <a:t>绝对理性</a:t>
            </a:r>
            <a:r>
              <a:rPr lang="en-US" altLang="zh-CN"/>
              <a:t>+</a:t>
            </a:r>
            <a:r>
              <a:rPr lang="zh-CN" altLang="en-US"/>
              <a:t>开发系统</a:t>
            </a:r>
            <a:r>
              <a:rPr lang="en-US" altLang="zh-CN"/>
              <a:t>), </a:t>
            </a:r>
            <a:r>
              <a:rPr lang="zh-CN" altLang="en-US"/>
              <a:t>兜底住</a:t>
            </a:r>
            <a:r>
              <a:rPr lang="zh-CN" altLang="en-US"/>
              <a:t>风险。</a:t>
            </a:r>
            <a:endParaRPr lang="zh-CN" altLang="en-US"/>
          </a:p>
          <a:p>
            <a:endParaRPr lang="zh-CN" altLang="en-US"/>
          </a:p>
          <a:p>
            <a:r>
              <a:rPr lang="zh-CN" altLang="en-US"/>
              <a:t>运用系统其实是一种以逸待劳的战略，系统迭代到一定程度，好运自动就被吸引过来了，而目标是一种成本非常高的战略，只要没达到阈值，随时有崩溃的风险</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5" Type="http://schemas.openxmlformats.org/officeDocument/2006/relationships/notesSlide" Target="../notesSlides/notesSlide1.xml"/><Relationship Id="rId14" Type="http://schemas.openxmlformats.org/officeDocument/2006/relationships/slideLayout" Target="../slideLayouts/slideLayout1.xml"/><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svg"/><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7.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image" Target="../media/image12.svg"/><Relationship Id="rId12" Type="http://schemas.openxmlformats.org/officeDocument/2006/relationships/image" Target="../media/image11.svg"/><Relationship Id="rId11" Type="http://schemas.openxmlformats.org/officeDocument/2006/relationships/image" Target="../media/image10.svg"/><Relationship Id="rId10" Type="http://schemas.openxmlformats.org/officeDocument/2006/relationships/image" Target="../media/image9.png"/><Relationship Id="rId1" Type="http://schemas.openxmlformats.org/officeDocument/2006/relationships/image" Target="../media/image14.png"/></Relationships>
</file>

<file path=ppt/slides/_rels/slide3.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4" Type="http://schemas.openxmlformats.org/officeDocument/2006/relationships/notesSlide" Target="../notesSlides/notesSlide3.xml"/><Relationship Id="rId13" Type="http://schemas.openxmlformats.org/officeDocument/2006/relationships/slideLayout" Target="../slideLayouts/slideLayout1.xml"/><Relationship Id="rId12" Type="http://schemas.openxmlformats.org/officeDocument/2006/relationships/image" Target="../media/image12.svg"/><Relationship Id="rId11" Type="http://schemas.openxmlformats.org/officeDocument/2006/relationships/image" Target="../media/image11.svg"/><Relationship Id="rId10" Type="http://schemas.openxmlformats.org/officeDocument/2006/relationships/image" Target="../media/image10.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4" Type="http://schemas.openxmlformats.org/officeDocument/2006/relationships/notesSlide" Target="../notesSlides/notesSlide4.xml"/><Relationship Id="rId13" Type="http://schemas.openxmlformats.org/officeDocument/2006/relationships/slideLayout" Target="../slideLayouts/slideLayout1.xml"/><Relationship Id="rId12" Type="http://schemas.openxmlformats.org/officeDocument/2006/relationships/image" Target="../media/image11.svg"/><Relationship Id="rId11" Type="http://schemas.openxmlformats.org/officeDocument/2006/relationships/image" Target="../media/image12.svg"/><Relationship Id="rId10" Type="http://schemas.openxmlformats.org/officeDocument/2006/relationships/image" Target="../media/image10.sv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194310" y="245110"/>
            <a:ext cx="7111365" cy="645160"/>
          </a:xfrm>
          <a:prstGeom prst="rect">
            <a:avLst/>
          </a:prstGeom>
          <a:noFill/>
        </p:spPr>
        <p:txBody>
          <a:bodyPr wrap="square" rtlCol="0">
            <a:spAutoFit/>
          </a:bodyPr>
          <a:p>
            <a:r>
              <a:rPr lang="en-US" altLang="zh-CN" b="1">
                <a:latin typeface="+mj-lt"/>
                <a:cs typeface="+mj-lt"/>
              </a:rPr>
              <a:t>Web3 Financial Management with Milestones:</a:t>
            </a:r>
            <a:br>
              <a:rPr lang="en-US" altLang="zh-CN" b="1">
                <a:latin typeface="+mj-lt"/>
                <a:cs typeface="+mj-lt"/>
              </a:rPr>
            </a:br>
            <a:r>
              <a:rPr lang="en-US" altLang="zh-CN" b="1">
                <a:latin typeface="+mj-lt"/>
                <a:cs typeface="+mj-lt"/>
              </a:rPr>
              <a:t>From Reporting to </a:t>
            </a:r>
            <a:r>
              <a:rPr lang="en-US" altLang="zh-CN" b="1">
                <a:latin typeface="+mj-lt"/>
                <a:cs typeface="+mj-lt"/>
              </a:rPr>
              <a:t>Future Growth</a:t>
            </a:r>
            <a:endParaRPr lang="en-US" altLang="zh-CN" b="1">
              <a:latin typeface="+mj-lt"/>
              <a:cs typeface="+mj-lt"/>
            </a:endParaRPr>
          </a:p>
        </p:txBody>
      </p:sp>
      <p:sp>
        <p:nvSpPr>
          <p:cNvPr id="11" name="文本框 10"/>
          <p:cNvSpPr txBox="1"/>
          <p:nvPr/>
        </p:nvSpPr>
        <p:spPr>
          <a:xfrm>
            <a:off x="21647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Financial Reporting</a:t>
            </a:r>
            <a:endParaRPr lang="en-US" altLang="zh-CN" sz="1400">
              <a:ln w="3175">
                <a:noFill/>
              </a:ln>
            </a:endParaRPr>
          </a:p>
        </p:txBody>
      </p:sp>
      <p:sp>
        <p:nvSpPr>
          <p:cNvPr id="14" name="文本框 13"/>
          <p:cNvSpPr txBox="1"/>
          <p:nvPr/>
        </p:nvSpPr>
        <p:spPr>
          <a:xfrm>
            <a:off x="534860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Procedures &amp; Policy</a:t>
            </a:r>
            <a:endParaRPr lang="en-US" altLang="zh-CN" sz="1400">
              <a:ln w="3175">
                <a:noFill/>
              </a:ln>
            </a:endParaRPr>
          </a:p>
        </p:txBody>
      </p:sp>
      <p:sp>
        <p:nvSpPr>
          <p:cNvPr id="15" name="文本框 14"/>
          <p:cNvSpPr txBox="1"/>
          <p:nvPr/>
        </p:nvSpPr>
        <p:spPr>
          <a:xfrm>
            <a:off x="69145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Compliance &amp; </a:t>
            </a:r>
            <a:r>
              <a:rPr lang="en-US" altLang="zh-CN" sz="1400">
                <a:ln w="3175">
                  <a:noFill/>
                </a:ln>
              </a:rPr>
              <a:t>Audit</a:t>
            </a:r>
            <a:endParaRPr lang="en-US" altLang="zh-CN" sz="1400">
              <a:ln w="3175">
                <a:noFill/>
              </a:ln>
            </a:endParaRPr>
          </a:p>
        </p:txBody>
      </p:sp>
      <p:sp>
        <p:nvSpPr>
          <p:cNvPr id="16" name="文本框 15"/>
          <p:cNvSpPr txBox="1"/>
          <p:nvPr/>
        </p:nvSpPr>
        <p:spPr>
          <a:xfrm>
            <a:off x="853249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Hedging &amp; Tax</a:t>
            </a:r>
            <a:endParaRPr lang="en-US" altLang="zh-CN" sz="1400">
              <a:ln w="3175">
                <a:noFill/>
              </a:ln>
            </a:endParaRPr>
          </a:p>
        </p:txBody>
      </p:sp>
      <p:sp>
        <p:nvSpPr>
          <p:cNvPr id="17" name="文本框 16"/>
          <p:cNvSpPr txBox="1"/>
          <p:nvPr/>
        </p:nvSpPr>
        <p:spPr>
          <a:xfrm>
            <a:off x="10081260"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Future</a:t>
            </a:r>
            <a:br>
              <a:rPr lang="en-US" altLang="zh-CN" sz="1400">
                <a:ln w="3175">
                  <a:noFill/>
                </a:ln>
              </a:rPr>
            </a:br>
            <a:r>
              <a:rPr lang="en-US" altLang="zh-CN" sz="1400">
                <a:ln w="3175">
                  <a:noFill/>
                </a:ln>
              </a:rPr>
              <a:t>Growth</a:t>
            </a:r>
            <a:endParaRPr lang="en-US" altLang="zh-CN" sz="1400">
              <a:ln w="3175">
                <a:noFill/>
              </a:ln>
            </a:endParaRPr>
          </a:p>
        </p:txBody>
      </p:sp>
      <p:grpSp>
        <p:nvGrpSpPr>
          <p:cNvPr id="42" name="组合 41"/>
          <p:cNvGrpSpPr/>
          <p:nvPr/>
        </p:nvGrpSpPr>
        <p:grpSpPr>
          <a:xfrm rot="0">
            <a:off x="7896225" y="508635"/>
            <a:ext cx="1590675" cy="306705"/>
            <a:chOff x="8621" y="6094"/>
            <a:chExt cx="2476" cy="483"/>
          </a:xfrm>
        </p:grpSpPr>
        <p:pic>
          <p:nvPicPr>
            <p:cNvPr id="28" name="图片 27"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21" y="6094"/>
              <a:ext cx="415" cy="415"/>
            </a:xfrm>
            <a:prstGeom prst="rect">
              <a:avLst/>
            </a:prstGeom>
          </p:spPr>
        </p:pic>
        <p:sp>
          <p:nvSpPr>
            <p:cNvPr id="35" name="文本框 34"/>
            <p:cNvSpPr txBox="1"/>
            <p:nvPr/>
          </p:nvSpPr>
          <p:spPr>
            <a:xfrm>
              <a:off x="9007" y="6095"/>
              <a:ext cx="2091" cy="483"/>
            </a:xfrm>
            <a:prstGeom prst="rect">
              <a:avLst/>
            </a:prstGeom>
            <a:noFill/>
          </p:spPr>
          <p:txBody>
            <a:bodyPr wrap="square" rtlCol="0">
              <a:spAutoFit/>
            </a:bodyPr>
            <a:p>
              <a:r>
                <a:rPr lang="en-US" altLang="zh-CN" sz="1400"/>
                <a:t>In Process</a:t>
              </a:r>
              <a:endParaRPr lang="en-US" altLang="zh-CN" sz="1400"/>
            </a:p>
          </p:txBody>
        </p:sp>
      </p:grpSp>
      <p:grpSp>
        <p:nvGrpSpPr>
          <p:cNvPr id="43" name="组合 42"/>
          <p:cNvGrpSpPr/>
          <p:nvPr/>
        </p:nvGrpSpPr>
        <p:grpSpPr>
          <a:xfrm rot="0">
            <a:off x="10271760" y="508635"/>
            <a:ext cx="1590675" cy="306070"/>
            <a:chOff x="10911" y="6040"/>
            <a:chExt cx="2522" cy="482"/>
          </a:xfrm>
        </p:grpSpPr>
        <p:pic>
          <p:nvPicPr>
            <p:cNvPr id="36" name="图片 35" descr="圆圈完成"/>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1" y="6094"/>
              <a:ext cx="415" cy="415"/>
            </a:xfrm>
            <a:prstGeom prst="rect">
              <a:avLst/>
            </a:prstGeom>
          </p:spPr>
        </p:pic>
        <p:sp>
          <p:nvSpPr>
            <p:cNvPr id="37" name="文本框 36"/>
            <p:cNvSpPr txBox="1"/>
            <p:nvPr/>
          </p:nvSpPr>
          <p:spPr>
            <a:xfrm>
              <a:off x="11343" y="6040"/>
              <a:ext cx="2091" cy="483"/>
            </a:xfrm>
            <a:prstGeom prst="rect">
              <a:avLst/>
            </a:prstGeom>
            <a:noFill/>
          </p:spPr>
          <p:txBody>
            <a:bodyPr wrap="square" rtlCol="0">
              <a:spAutoFit/>
            </a:bodyPr>
            <a:p>
              <a:r>
                <a:rPr lang="en-US" altLang="zh-CN" sz="1400"/>
                <a:t>Risk</a:t>
              </a:r>
              <a:endParaRPr lang="en-US" altLang="zh-CN" sz="1400"/>
            </a:p>
          </p:txBody>
        </p:sp>
      </p:grpSp>
      <p:grpSp>
        <p:nvGrpSpPr>
          <p:cNvPr id="46" name="组合 45"/>
          <p:cNvGrpSpPr/>
          <p:nvPr/>
        </p:nvGrpSpPr>
        <p:grpSpPr>
          <a:xfrm rot="0">
            <a:off x="8788400" y="85725"/>
            <a:ext cx="2062480" cy="313690"/>
            <a:chOff x="7085" y="6861"/>
            <a:chExt cx="3248" cy="494"/>
          </a:xfrm>
        </p:grpSpPr>
        <p:pic>
          <p:nvPicPr>
            <p:cNvPr id="29" name="图片 28"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85" y="6861"/>
              <a:ext cx="494" cy="494"/>
            </a:xfrm>
            <a:prstGeom prst="rect">
              <a:avLst/>
            </a:prstGeom>
          </p:spPr>
        </p:pic>
        <p:sp>
          <p:nvSpPr>
            <p:cNvPr id="39" name="文本框 38"/>
            <p:cNvSpPr txBox="1"/>
            <p:nvPr/>
          </p:nvSpPr>
          <p:spPr>
            <a:xfrm>
              <a:off x="7579" y="6872"/>
              <a:ext cx="2754" cy="483"/>
            </a:xfrm>
            <a:prstGeom prst="rect">
              <a:avLst/>
            </a:prstGeom>
            <a:noFill/>
          </p:spPr>
          <p:txBody>
            <a:bodyPr wrap="square" rtlCol="0">
              <a:spAutoFit/>
            </a:bodyPr>
            <a:p>
              <a:r>
                <a:rPr lang="en-US" altLang="zh-CN" sz="1400"/>
                <a:t>Submitted </a:t>
              </a:r>
              <a:r>
                <a:rPr lang="zh-CN" altLang="en-US" sz="1000"/>
                <a:t>跨部门</a:t>
              </a:r>
              <a:r>
                <a:rPr lang="en-US" altLang="zh-CN" sz="1000"/>
                <a:t> </a:t>
              </a:r>
              <a:endParaRPr lang="zh-CN" altLang="en-US" sz="1000"/>
            </a:p>
          </p:txBody>
        </p:sp>
      </p:grpSp>
      <p:grpSp>
        <p:nvGrpSpPr>
          <p:cNvPr id="45" name="组合 44"/>
          <p:cNvGrpSpPr/>
          <p:nvPr/>
        </p:nvGrpSpPr>
        <p:grpSpPr>
          <a:xfrm rot="0">
            <a:off x="9215755" y="508635"/>
            <a:ext cx="1583055" cy="306705"/>
            <a:chOff x="12871" y="6092"/>
            <a:chExt cx="2493" cy="483"/>
          </a:xfrm>
        </p:grpSpPr>
        <p:pic>
          <p:nvPicPr>
            <p:cNvPr id="31" name="图片 30" descr="圆圈完成"/>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71" y="6108"/>
              <a:ext cx="415" cy="415"/>
            </a:xfrm>
            <a:prstGeom prst="rect">
              <a:avLst/>
            </a:prstGeom>
          </p:spPr>
        </p:pic>
        <p:sp>
          <p:nvSpPr>
            <p:cNvPr id="40" name="文本框 39"/>
            <p:cNvSpPr txBox="1"/>
            <p:nvPr/>
          </p:nvSpPr>
          <p:spPr>
            <a:xfrm>
              <a:off x="13273" y="6092"/>
              <a:ext cx="2091" cy="483"/>
            </a:xfrm>
            <a:prstGeom prst="rect">
              <a:avLst/>
            </a:prstGeom>
            <a:noFill/>
          </p:spPr>
          <p:txBody>
            <a:bodyPr wrap="square" rtlCol="0">
              <a:spAutoFit/>
            </a:bodyPr>
            <a:p>
              <a:r>
                <a:rPr lang="en-US" altLang="zh-CN" sz="1400"/>
                <a:t>Urgent</a:t>
              </a:r>
              <a:endParaRPr lang="en-US" altLang="zh-CN" sz="1400"/>
            </a:p>
          </p:txBody>
        </p:sp>
      </p:grpSp>
      <p:grpSp>
        <p:nvGrpSpPr>
          <p:cNvPr id="41" name="组合 40"/>
          <p:cNvGrpSpPr/>
          <p:nvPr/>
        </p:nvGrpSpPr>
        <p:grpSpPr>
          <a:xfrm rot="0">
            <a:off x="7894955" y="92710"/>
            <a:ext cx="998220" cy="306705"/>
            <a:chOff x="7178" y="6069"/>
            <a:chExt cx="1572" cy="483"/>
          </a:xfrm>
        </p:grpSpPr>
        <p:sp>
          <p:nvSpPr>
            <p:cNvPr id="34" name="文本框 33"/>
            <p:cNvSpPr txBox="1"/>
            <p:nvPr/>
          </p:nvSpPr>
          <p:spPr>
            <a:xfrm>
              <a:off x="7579" y="6069"/>
              <a:ext cx="1171" cy="483"/>
            </a:xfrm>
            <a:prstGeom prst="rect">
              <a:avLst/>
            </a:prstGeom>
            <a:noFill/>
          </p:spPr>
          <p:txBody>
            <a:bodyPr wrap="square" rtlCol="0">
              <a:spAutoFit/>
            </a:bodyPr>
            <a:p>
              <a:r>
                <a:rPr lang="en-US" altLang="zh-CN" sz="1400"/>
                <a:t>Done</a:t>
              </a:r>
              <a:endParaRPr lang="en-US" altLang="zh-CN" sz="1400"/>
            </a:p>
          </p:txBody>
        </p:sp>
        <p:pic>
          <p:nvPicPr>
            <p:cNvPr id="27" name="图片 26" descr="完成"/>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78" y="6108"/>
              <a:ext cx="401" cy="401"/>
            </a:xfrm>
            <a:prstGeom prst="rect">
              <a:avLst/>
            </a:prstGeom>
          </p:spPr>
        </p:pic>
      </p:grpSp>
      <p:cxnSp>
        <p:nvCxnSpPr>
          <p:cNvPr id="51" name="直接连接符 50"/>
          <p:cNvCxnSpPr/>
          <p:nvPr/>
        </p:nvCxnSpPr>
        <p:spPr>
          <a:xfrm flipV="1">
            <a:off x="252095" y="175768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0" name="直接连接符 59"/>
          <p:cNvCxnSpPr/>
          <p:nvPr/>
        </p:nvCxnSpPr>
        <p:spPr>
          <a:xfrm flipV="1">
            <a:off x="326390" y="2864485"/>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1" name="直接连接符 60"/>
          <p:cNvCxnSpPr/>
          <p:nvPr/>
        </p:nvCxnSpPr>
        <p:spPr>
          <a:xfrm flipV="1">
            <a:off x="318135" y="3900805"/>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2" name="直接连接符 61"/>
          <p:cNvCxnSpPr/>
          <p:nvPr/>
        </p:nvCxnSpPr>
        <p:spPr>
          <a:xfrm flipV="1">
            <a:off x="383540" y="5654675"/>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3" name="直接连接符 62"/>
          <p:cNvCxnSpPr/>
          <p:nvPr/>
        </p:nvCxnSpPr>
        <p:spPr>
          <a:xfrm flipV="1">
            <a:off x="383540" y="679704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68" name="文本框 67"/>
          <p:cNvSpPr txBox="1"/>
          <p:nvPr/>
        </p:nvSpPr>
        <p:spPr>
          <a:xfrm>
            <a:off x="2164715" y="17926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Transaction Rev</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r>
              <a:rPr lang="en-US" altLang="zh-CN" sz="1200" kern="2400">
                <a:ln w="3175">
                  <a:noFill/>
                </a:ln>
                <a:solidFill>
                  <a:schemeClr val="tx1"/>
                </a:solidFill>
                <a:uFillTx/>
              </a:rPr>
              <a:t>Reconcile</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Completeness</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Revenue Fcst</a:t>
            </a:r>
            <a:endParaRPr lang="en-US" altLang="zh-CN" sz="1200" kern="2400">
              <a:ln w="3175">
                <a:noFill/>
              </a:ln>
              <a:solidFill>
                <a:schemeClr val="tx1"/>
              </a:solidFill>
              <a:uFillTx/>
            </a:endParaRPr>
          </a:p>
        </p:txBody>
      </p:sp>
      <p:pic>
        <p:nvPicPr>
          <p:cNvPr id="69" name="图片 68"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2979420" y="2122805"/>
            <a:ext cx="144000" cy="144000"/>
          </a:xfrm>
          <a:prstGeom prst="rect">
            <a:avLst/>
          </a:prstGeom>
        </p:spPr>
      </p:pic>
      <p:sp>
        <p:nvSpPr>
          <p:cNvPr id="71" name="文本框 70"/>
          <p:cNvSpPr txBox="1"/>
          <p:nvPr/>
        </p:nvSpPr>
        <p:spPr>
          <a:xfrm>
            <a:off x="334010" y="188404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Revenue Recognition</a:t>
            </a:r>
            <a:endParaRPr lang="en-US" altLang="zh-CN" sz="1400">
              <a:ln w="3175">
                <a:noFill/>
              </a:ln>
            </a:endParaRPr>
          </a:p>
        </p:txBody>
      </p:sp>
      <p:sp>
        <p:nvSpPr>
          <p:cNvPr id="72" name="文本框 71"/>
          <p:cNvSpPr txBox="1"/>
          <p:nvPr/>
        </p:nvSpPr>
        <p:spPr>
          <a:xfrm>
            <a:off x="334010" y="2964180"/>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Cost </a:t>
            </a:r>
            <a:endParaRPr lang="en-US" altLang="zh-CN" sz="1400">
              <a:ln w="3175">
                <a:noFill/>
              </a:ln>
            </a:endParaRPr>
          </a:p>
          <a:p>
            <a:pPr algn="l"/>
            <a:r>
              <a:rPr lang="en-US" altLang="zh-CN" sz="1400">
                <a:ln w="3175">
                  <a:noFill/>
                </a:ln>
              </a:rPr>
              <a:t>Management</a:t>
            </a:r>
            <a:endParaRPr lang="en-US" altLang="zh-CN" sz="1400">
              <a:ln w="3175">
                <a:noFill/>
              </a:ln>
            </a:endParaRPr>
          </a:p>
        </p:txBody>
      </p:sp>
      <p:sp>
        <p:nvSpPr>
          <p:cNvPr id="73" name="文本框 72"/>
          <p:cNvSpPr txBox="1"/>
          <p:nvPr/>
        </p:nvSpPr>
        <p:spPr>
          <a:xfrm>
            <a:off x="334010" y="3950970"/>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Crypto &amp; Fiat </a:t>
            </a:r>
            <a:endParaRPr lang="en-US" altLang="zh-CN" sz="1400">
              <a:ln w="3175">
                <a:noFill/>
              </a:ln>
            </a:endParaRPr>
          </a:p>
          <a:p>
            <a:pPr algn="l"/>
            <a:r>
              <a:rPr lang="en-US" altLang="zh-CN" sz="1400">
                <a:ln w="3175">
                  <a:noFill/>
                </a:ln>
              </a:rPr>
              <a:t>Flow</a:t>
            </a:r>
            <a:endParaRPr lang="en-US" altLang="zh-CN" sz="1400">
              <a:ln w="3175">
                <a:noFill/>
              </a:ln>
            </a:endParaRPr>
          </a:p>
        </p:txBody>
      </p:sp>
      <p:sp>
        <p:nvSpPr>
          <p:cNvPr id="74" name="文本框 73"/>
          <p:cNvSpPr txBox="1"/>
          <p:nvPr/>
        </p:nvSpPr>
        <p:spPr>
          <a:xfrm>
            <a:off x="383540" y="484314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Working Capital</a:t>
            </a:r>
            <a:endParaRPr lang="en-US" altLang="zh-CN" sz="1400">
              <a:ln w="3175">
                <a:noFill/>
              </a:ln>
            </a:endParaRPr>
          </a:p>
        </p:txBody>
      </p:sp>
      <p:sp>
        <p:nvSpPr>
          <p:cNvPr id="75" name="文本框 74"/>
          <p:cNvSpPr txBox="1"/>
          <p:nvPr/>
        </p:nvSpPr>
        <p:spPr>
          <a:xfrm>
            <a:off x="334010" y="577659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Bank Account &amp; Crypto Wallet</a:t>
            </a:r>
            <a:endParaRPr lang="en-US" altLang="zh-CN" sz="1400">
              <a:ln w="3175">
                <a:noFill/>
              </a:ln>
            </a:endParaRPr>
          </a:p>
        </p:txBody>
      </p:sp>
      <p:sp>
        <p:nvSpPr>
          <p:cNvPr id="79" name="文本框 78"/>
          <p:cNvSpPr txBox="1"/>
          <p:nvPr/>
        </p:nvSpPr>
        <p:spPr>
          <a:xfrm>
            <a:off x="8532495" y="1798320"/>
            <a:ext cx="1475740" cy="98107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a:buSzPct val="100000"/>
              <a:buFont typeface="Arial" panose="020B0604020202020204" pitchFamily="34" charset="0"/>
              <a:buNone/>
            </a:pPr>
            <a:endParaRPr lang="zh-CN" altLang="en-US" sz="800" kern="2400">
              <a:ln w="3175">
                <a:noFill/>
              </a:ln>
              <a:solidFill>
                <a:schemeClr val="tx1"/>
              </a:solidFill>
              <a:uFillTx/>
            </a:endParaRPr>
          </a:p>
        </p:txBody>
      </p:sp>
      <p:pic>
        <p:nvPicPr>
          <p:cNvPr id="82" name="图片 81"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3488055" y="2363470"/>
            <a:ext cx="144000" cy="144000"/>
          </a:xfrm>
          <a:prstGeom prst="rect">
            <a:avLst/>
          </a:prstGeom>
        </p:spPr>
      </p:pic>
      <p:pic>
        <p:nvPicPr>
          <p:cNvPr id="83" name="图片 82"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89960" y="2607945"/>
            <a:ext cx="149860" cy="147955"/>
          </a:xfrm>
          <a:prstGeom prst="rect">
            <a:avLst/>
          </a:prstGeom>
        </p:spPr>
      </p:pic>
      <p:pic>
        <p:nvPicPr>
          <p:cNvPr id="85" name="图片 84"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5099050" y="1925320"/>
            <a:ext cx="144000" cy="144000"/>
          </a:xfrm>
          <a:prstGeom prst="rect">
            <a:avLst/>
          </a:prstGeom>
        </p:spPr>
      </p:pic>
      <p:pic>
        <p:nvPicPr>
          <p:cNvPr id="86" name="图片 85"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5102225" y="2167890"/>
            <a:ext cx="144000" cy="144000"/>
          </a:xfrm>
          <a:prstGeom prst="rect">
            <a:avLst/>
          </a:prstGeom>
        </p:spPr>
      </p:pic>
      <p:pic>
        <p:nvPicPr>
          <p:cNvPr id="87" name="图片 86"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02225" y="2590800"/>
            <a:ext cx="149860" cy="147955"/>
          </a:xfrm>
          <a:prstGeom prst="rect">
            <a:avLst/>
          </a:prstGeom>
        </p:spPr>
      </p:pic>
      <p:sp>
        <p:nvSpPr>
          <p:cNvPr id="88" name="文本框 87"/>
          <p:cNvSpPr txBox="1"/>
          <p:nvPr/>
        </p:nvSpPr>
        <p:spPr>
          <a:xfrm>
            <a:off x="5359400" y="176911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商户余额变动</a:t>
            </a:r>
            <a:r>
              <a:rPr lang="zh-CN" altLang="en-US" sz="1000" kern="2400">
                <a:ln w="3175">
                  <a:noFill/>
                </a:ln>
                <a:solidFill>
                  <a:schemeClr val="tx1"/>
                </a:solidFill>
                <a:uFillTx/>
              </a:rPr>
              <a:t>表</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r>
              <a:rPr lang="zh-CN" altLang="en-US" sz="1000" kern="2400">
                <a:ln w="3175">
                  <a:noFill/>
                </a:ln>
                <a:solidFill>
                  <a:schemeClr val="tx1"/>
                </a:solidFill>
                <a:uFillTx/>
              </a:rPr>
              <a:t>自动化</a:t>
            </a:r>
            <a:endParaRPr lang="zh-CN" altLang="en-US" sz="1000" kern="2400">
              <a:ln w="3175">
                <a:noFill/>
              </a:ln>
              <a:solidFill>
                <a:schemeClr val="tx1"/>
              </a:solidFill>
              <a:uFillTx/>
            </a:endParaRPr>
          </a:p>
        </p:txBody>
      </p:sp>
      <p:pic>
        <p:nvPicPr>
          <p:cNvPr id="92" name="图片 91"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67400" y="2088515"/>
            <a:ext cx="223520" cy="223520"/>
          </a:xfrm>
          <a:prstGeom prst="rect">
            <a:avLst/>
          </a:prstGeom>
        </p:spPr>
      </p:pic>
      <p:sp>
        <p:nvSpPr>
          <p:cNvPr id="93" name="文本框 92"/>
          <p:cNvSpPr txBox="1"/>
          <p:nvPr/>
        </p:nvSpPr>
        <p:spPr>
          <a:xfrm>
            <a:off x="8532495" y="18180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多币种财务报表</a:t>
            </a:r>
            <a:r>
              <a:rPr lang="zh-CN" altLang="en-US" sz="1000" kern="2400">
                <a:ln w="3175">
                  <a:noFill/>
                </a:ln>
                <a:solidFill>
                  <a:schemeClr val="tx1"/>
                </a:solidFill>
                <a:uFillTx/>
              </a:rPr>
              <a:t>体系</a:t>
            </a:r>
            <a:endParaRPr lang="zh-CN" altLang="en-US" sz="1000" kern="2400">
              <a:ln w="3175">
                <a:noFill/>
              </a:ln>
              <a:solidFill>
                <a:schemeClr val="tx1"/>
              </a:solidFill>
              <a:uFillTx/>
            </a:endParaRPr>
          </a:p>
        </p:txBody>
      </p:sp>
      <p:pic>
        <p:nvPicPr>
          <p:cNvPr id="94" name="图片 93" descr="圆圈完成"/>
          <p:cNvPicPr>
            <a:picLocks noChangeAspect="1"/>
          </p:cNvPicPr>
          <p:nvPr/>
        </p:nvPicPr>
        <p:blipFill>
          <a:blip r:embed="rId7">
            <a:extLst>
              <a:ext uri="{96DAC541-7B7A-43D3-8B79-37D633B846F1}">
                <asvg:svgBlip xmlns:asvg="http://schemas.microsoft.com/office/drawing/2016/SVG/main" r:embed="rId12"/>
              </a:ext>
            </a:extLst>
          </a:blip>
          <a:stretch>
            <a:fillRect/>
          </a:stretch>
        </p:blipFill>
        <p:spPr>
          <a:xfrm>
            <a:off x="8991600" y="2167255"/>
            <a:ext cx="136525" cy="136525"/>
          </a:xfrm>
          <a:prstGeom prst="rect">
            <a:avLst/>
          </a:prstGeom>
        </p:spPr>
      </p:pic>
      <p:sp>
        <p:nvSpPr>
          <p:cNvPr id="95" name="文本框 94"/>
          <p:cNvSpPr txBox="1"/>
          <p:nvPr/>
        </p:nvSpPr>
        <p:spPr>
          <a:xfrm>
            <a:off x="10081260" y="18180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为投资者和利益相关者提供透明和准确的业绩视图，吸引更多合作</a:t>
            </a:r>
            <a:r>
              <a:rPr lang="zh-CN" altLang="en-US" sz="1000" kern="2400">
                <a:ln w="3175">
                  <a:noFill/>
                </a:ln>
                <a:solidFill>
                  <a:schemeClr val="tx1"/>
                </a:solidFill>
                <a:uFillTx/>
              </a:rPr>
              <a:t>机会。</a:t>
            </a:r>
            <a:endParaRPr lang="zh-CN" altLang="en-US" sz="1000" kern="2400">
              <a:ln w="3175">
                <a:noFill/>
              </a:ln>
              <a:solidFill>
                <a:schemeClr val="tx1"/>
              </a:solidFill>
              <a:uFillTx/>
            </a:endParaRPr>
          </a:p>
        </p:txBody>
      </p:sp>
      <p:sp>
        <p:nvSpPr>
          <p:cNvPr id="96" name="文本框 95"/>
          <p:cNvSpPr txBox="1"/>
          <p:nvPr/>
        </p:nvSpPr>
        <p:spPr>
          <a:xfrm>
            <a:off x="6914515" y="180975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经</a:t>
            </a:r>
            <a:r>
              <a:rPr lang="zh-CN" altLang="en-US" sz="1000" kern="2400">
                <a:ln w="3175">
                  <a:noFill/>
                </a:ln>
                <a:solidFill>
                  <a:schemeClr val="tx1"/>
                </a:solidFill>
                <a:uFillTx/>
              </a:rPr>
              <a:t>得起审计的财务报表</a:t>
            </a:r>
            <a:r>
              <a:rPr lang="en-US" altLang="zh-CN" sz="1000" kern="2400">
                <a:ln w="3175">
                  <a:noFill/>
                </a:ln>
                <a:solidFill>
                  <a:schemeClr val="tx1"/>
                </a:solidFill>
                <a:uFillTx/>
              </a:rPr>
              <a:t>, </a:t>
            </a:r>
            <a:r>
              <a:rPr lang="zh-CN" altLang="en-US" sz="1000" kern="2400">
                <a:ln w="3175">
                  <a:noFill/>
                </a:ln>
                <a:solidFill>
                  <a:schemeClr val="tx1"/>
                </a:solidFill>
                <a:uFillTx/>
              </a:rPr>
              <a:t>满足日益严格的合规</a:t>
            </a:r>
            <a:r>
              <a:rPr lang="zh-CN" altLang="en-US" sz="1000" kern="2400">
                <a:ln w="3175">
                  <a:noFill/>
                </a:ln>
                <a:solidFill>
                  <a:schemeClr val="tx1"/>
                </a:solidFill>
                <a:uFillTx/>
              </a:rPr>
              <a:t>要求</a:t>
            </a:r>
            <a:endParaRPr lang="zh-CN" altLang="en-US" sz="1000" kern="2400">
              <a:ln w="3175">
                <a:noFill/>
              </a:ln>
              <a:solidFill>
                <a:schemeClr val="tx1"/>
              </a:solidFill>
              <a:uFillTx/>
            </a:endParaRPr>
          </a:p>
        </p:txBody>
      </p:sp>
      <p:pic>
        <p:nvPicPr>
          <p:cNvPr id="97" name="图片 96" descr="圆圈完成"/>
          <p:cNvPicPr>
            <a:picLocks noChangeAspect="1"/>
          </p:cNvPicPr>
          <p:nvPr/>
        </p:nvPicPr>
        <p:blipFill>
          <a:blip r:embed="rId7">
            <a:extLst>
              <a:ext uri="{96DAC541-7B7A-43D3-8B79-37D633B846F1}">
                <asvg:svgBlip xmlns:asvg="http://schemas.microsoft.com/office/drawing/2016/SVG/main" r:embed="rId12"/>
              </a:ext>
            </a:extLst>
          </a:blip>
          <a:stretch>
            <a:fillRect/>
          </a:stretch>
        </p:blipFill>
        <p:spPr>
          <a:xfrm>
            <a:off x="7844155" y="2387600"/>
            <a:ext cx="136525" cy="136525"/>
          </a:xfrm>
          <a:prstGeom prst="rect">
            <a:avLst/>
          </a:prstGeom>
        </p:spPr>
      </p:pic>
      <p:sp>
        <p:nvSpPr>
          <p:cNvPr id="98" name="文本框 97"/>
          <p:cNvSpPr txBox="1"/>
          <p:nvPr/>
        </p:nvSpPr>
        <p:spPr>
          <a:xfrm>
            <a:off x="2164715" y="286448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R&amp;D Labor Costs &amp; Commission Disclosure Adj.</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p:txBody>
      </p:sp>
      <p:pic>
        <p:nvPicPr>
          <p:cNvPr id="99" name="图片 98"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3466465" y="3655060"/>
            <a:ext cx="144000" cy="144000"/>
          </a:xfrm>
          <a:prstGeom prst="rect">
            <a:avLst/>
          </a:prstGeom>
        </p:spPr>
      </p:pic>
      <p:sp>
        <p:nvSpPr>
          <p:cNvPr id="101" name="文本框 100"/>
          <p:cNvSpPr txBox="1"/>
          <p:nvPr/>
        </p:nvSpPr>
        <p:spPr>
          <a:xfrm>
            <a:off x="10081260" y="296418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在高度竞争的数字货币领域保持竞争优势。</a:t>
            </a:r>
            <a:endParaRPr lang="en-US" altLang="zh-CN" sz="1000" kern="2400">
              <a:ln w="3175">
                <a:noFill/>
              </a:ln>
              <a:solidFill>
                <a:schemeClr val="tx1"/>
              </a:solidFill>
              <a:uFillTx/>
            </a:endParaRPr>
          </a:p>
        </p:txBody>
      </p:sp>
      <p:sp>
        <p:nvSpPr>
          <p:cNvPr id="102" name="文本框 101"/>
          <p:cNvSpPr txBox="1"/>
          <p:nvPr/>
        </p:nvSpPr>
        <p:spPr>
          <a:xfrm>
            <a:off x="5348605" y="286448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关联方交易</a:t>
            </a: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费用支付的及时性和准确性</a:t>
            </a:r>
            <a:endParaRPr lang="zh-CN" altLang="en-US" sz="1000" kern="2400">
              <a:ln w="3175">
                <a:noFill/>
              </a:ln>
              <a:solidFill>
                <a:schemeClr val="tx1"/>
              </a:solidFill>
              <a:uFillTx/>
            </a:endParaRPr>
          </a:p>
        </p:txBody>
      </p:sp>
      <p:pic>
        <p:nvPicPr>
          <p:cNvPr id="103" name="图片 102"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165" y="2964180"/>
            <a:ext cx="223520" cy="223520"/>
          </a:xfrm>
          <a:prstGeom prst="rect">
            <a:avLst/>
          </a:prstGeom>
        </p:spPr>
      </p:pic>
      <p:pic>
        <p:nvPicPr>
          <p:cNvPr id="106" name="图片 105"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4422140" y="3260725"/>
            <a:ext cx="144000" cy="144000"/>
          </a:xfrm>
          <a:prstGeom prst="rect">
            <a:avLst/>
          </a:prstGeom>
        </p:spPr>
      </p:pic>
      <p:pic>
        <p:nvPicPr>
          <p:cNvPr id="107" name="图片 106"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5132705" y="3486150"/>
            <a:ext cx="144000" cy="144000"/>
          </a:xfrm>
          <a:prstGeom prst="rect">
            <a:avLst/>
          </a:prstGeom>
        </p:spPr>
      </p:pic>
      <p:sp>
        <p:nvSpPr>
          <p:cNvPr id="108" name="文本框 107"/>
          <p:cNvSpPr txBox="1"/>
          <p:nvPr/>
        </p:nvSpPr>
        <p:spPr>
          <a:xfrm>
            <a:off x="5348605" y="39509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T+1 </a:t>
            </a:r>
            <a:r>
              <a:rPr lang="zh-CN" altLang="en-US" sz="1000" kern="2400">
                <a:ln w="3175">
                  <a:noFill/>
                </a:ln>
                <a:solidFill>
                  <a:schemeClr val="tx1"/>
                </a:solidFill>
                <a:uFillTx/>
              </a:rPr>
              <a:t>商家结算保障</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p:txBody>
      </p:sp>
      <p:pic>
        <p:nvPicPr>
          <p:cNvPr id="110" name="图片 109"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08775" y="4036060"/>
            <a:ext cx="223520" cy="223520"/>
          </a:xfrm>
          <a:prstGeom prst="rect">
            <a:avLst/>
          </a:prstGeom>
        </p:spPr>
      </p:pic>
      <p:sp>
        <p:nvSpPr>
          <p:cNvPr id="111" name="文本框 110"/>
          <p:cNvSpPr txBox="1"/>
          <p:nvPr/>
        </p:nvSpPr>
        <p:spPr>
          <a:xfrm>
            <a:off x="6914515" y="286448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会计科目调整后</a:t>
            </a:r>
            <a:r>
              <a:rPr lang="zh-CN" altLang="en-US" sz="1000" kern="2400">
                <a:ln w="3175">
                  <a:noFill/>
                </a:ln>
                <a:solidFill>
                  <a:schemeClr val="tx1"/>
                </a:solidFill>
                <a:uFillTx/>
              </a:rPr>
              <a:t>的报表</a:t>
            </a:r>
            <a:endParaRPr lang="zh-CN" altLang="en-US" sz="1000" kern="2400">
              <a:ln w="3175">
                <a:noFill/>
              </a:ln>
              <a:solidFill>
                <a:schemeClr val="tx1"/>
              </a:solidFill>
              <a:uFillTx/>
            </a:endParaRPr>
          </a:p>
        </p:txBody>
      </p:sp>
      <p:sp>
        <p:nvSpPr>
          <p:cNvPr id="114" name="文本框 113"/>
          <p:cNvSpPr txBox="1"/>
          <p:nvPr/>
        </p:nvSpPr>
        <p:spPr>
          <a:xfrm>
            <a:off x="8532495" y="28975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Global Crypto </a:t>
            </a:r>
            <a:r>
              <a:rPr lang="en-US" altLang="zh-CN" sz="1200" kern="2400">
                <a:ln w="3175">
                  <a:noFill/>
                </a:ln>
                <a:solidFill>
                  <a:schemeClr val="tx1"/>
                </a:solidFill>
                <a:uFillTx/>
              </a:rPr>
              <a:t>Tax Policies Follow Up</a:t>
            </a:r>
            <a:endParaRPr lang="en-US" altLang="zh-CN" sz="1200" kern="2400">
              <a:ln w="3175">
                <a:noFill/>
              </a:ln>
              <a:solidFill>
                <a:schemeClr val="tx1"/>
              </a:solidFill>
              <a:uFillTx/>
            </a:endParaRPr>
          </a:p>
        </p:txBody>
      </p:sp>
      <p:pic>
        <p:nvPicPr>
          <p:cNvPr id="115" name="图片 114" descr="圆圈完成"/>
          <p:cNvPicPr>
            <a:picLocks noChangeAspect="1"/>
          </p:cNvPicPr>
          <p:nvPr/>
        </p:nvPicPr>
        <p:blipFill>
          <a:blip r:embed="rId7">
            <a:extLst>
              <a:ext uri="{96DAC541-7B7A-43D3-8B79-37D633B846F1}">
                <asvg:svgBlip xmlns:asvg="http://schemas.microsoft.com/office/drawing/2016/SVG/main" r:embed="rId12"/>
              </a:ext>
            </a:extLst>
          </a:blip>
          <a:stretch>
            <a:fillRect/>
          </a:stretch>
        </p:blipFill>
        <p:spPr>
          <a:xfrm>
            <a:off x="9529445" y="3464560"/>
            <a:ext cx="136525" cy="136525"/>
          </a:xfrm>
          <a:prstGeom prst="rect">
            <a:avLst/>
          </a:prstGeom>
        </p:spPr>
      </p:pic>
      <p:pic>
        <p:nvPicPr>
          <p:cNvPr id="116" name="图片 115"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6175" y="3220720"/>
            <a:ext cx="149860" cy="147955"/>
          </a:xfrm>
          <a:prstGeom prst="rect">
            <a:avLst/>
          </a:prstGeom>
        </p:spPr>
      </p:pic>
      <p:pic>
        <p:nvPicPr>
          <p:cNvPr id="118" name="图片 117"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08395" y="3444875"/>
            <a:ext cx="149860" cy="147955"/>
          </a:xfrm>
          <a:prstGeom prst="rect">
            <a:avLst/>
          </a:prstGeom>
        </p:spPr>
      </p:pic>
      <p:sp>
        <p:nvSpPr>
          <p:cNvPr id="120" name="文本框 119"/>
          <p:cNvSpPr txBox="1"/>
          <p:nvPr/>
        </p:nvSpPr>
        <p:spPr>
          <a:xfrm>
            <a:off x="10081260" y="403606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优化应收账款、应付账款环节，加速资金周转</a:t>
            </a:r>
            <a:r>
              <a:rPr lang="en-US" altLang="zh-CN" sz="1000" kern="2400">
                <a:ln w="3175">
                  <a:noFill/>
                </a:ln>
                <a:solidFill>
                  <a:schemeClr val="tx1"/>
                </a:solidFill>
                <a:uFillTx/>
              </a:rPr>
              <a:t>, </a:t>
            </a:r>
            <a:r>
              <a:rPr lang="zh-CN" altLang="en-US" sz="1000" kern="2400">
                <a:ln w="3175">
                  <a:noFill/>
                </a:ln>
                <a:solidFill>
                  <a:schemeClr val="tx1"/>
                </a:solidFill>
                <a:uFillTx/>
              </a:rPr>
              <a:t>为应对数币市场波动和抓住给予充足和灵活的资金储备。</a:t>
            </a:r>
            <a:endParaRPr lang="en-US" altLang="zh-CN" sz="1000" kern="2400">
              <a:ln w="3175">
                <a:noFill/>
              </a:ln>
              <a:solidFill>
                <a:schemeClr val="tx1"/>
              </a:solidFill>
              <a:uFillTx/>
            </a:endParaRPr>
          </a:p>
        </p:txBody>
      </p:sp>
      <p:sp>
        <p:nvSpPr>
          <p:cNvPr id="127" name="文本框 126"/>
          <p:cNvSpPr txBox="1"/>
          <p:nvPr/>
        </p:nvSpPr>
        <p:spPr>
          <a:xfrm>
            <a:off x="10081260" y="572198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集成化的财务管理工具监控资金流动，实施财务规划，减少交易成本和风险。</a:t>
            </a:r>
            <a:endParaRPr lang="zh-CN" altLang="en-US" sz="1000" kern="2400">
              <a:ln w="3175">
                <a:noFill/>
              </a:ln>
              <a:solidFill>
                <a:schemeClr val="tx1"/>
              </a:solidFill>
              <a:uFillTx/>
            </a:endParaRPr>
          </a:p>
        </p:txBody>
      </p:sp>
      <p:grpSp>
        <p:nvGrpSpPr>
          <p:cNvPr id="156" name="组合 155"/>
          <p:cNvGrpSpPr/>
          <p:nvPr/>
        </p:nvGrpSpPr>
        <p:grpSpPr>
          <a:xfrm>
            <a:off x="5348605" y="5758180"/>
            <a:ext cx="1485900" cy="986790"/>
            <a:chOff x="8565" y="8925"/>
            <a:chExt cx="2340" cy="1554"/>
          </a:xfrm>
        </p:grpSpPr>
        <p:sp>
          <p:nvSpPr>
            <p:cNvPr id="128" name="文本框 127"/>
            <p:cNvSpPr txBox="1"/>
            <p:nvPr/>
          </p:nvSpPr>
          <p:spPr>
            <a:xfrm>
              <a:off x="8565" y="8925"/>
              <a:ext cx="2324" cy="1554"/>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商委</a:t>
              </a:r>
              <a:r>
                <a:rPr lang="zh-CN" altLang="en-US" sz="1000" kern="2400">
                  <a:ln w="3175">
                    <a:noFill/>
                  </a:ln>
                  <a:solidFill>
                    <a:schemeClr val="tx1"/>
                  </a:solidFill>
                  <a:uFillTx/>
                </a:rPr>
                <a:t>备案</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跨境资金</a:t>
              </a:r>
              <a:r>
                <a:rPr lang="zh-CN" altLang="en-US" sz="1000" kern="2400">
                  <a:ln w="3175">
                    <a:noFill/>
                  </a:ln>
                  <a:solidFill>
                    <a:schemeClr val="tx1"/>
                  </a:solidFill>
                  <a:uFillTx/>
                </a:rPr>
                <a:t>调拨</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银行冻结资金</a:t>
              </a:r>
              <a:r>
                <a:rPr lang="zh-CN" altLang="en-US" sz="1000" kern="2400">
                  <a:ln w="3175">
                    <a:noFill/>
                  </a:ln>
                  <a:solidFill>
                    <a:schemeClr val="tx1"/>
                  </a:solidFill>
                  <a:uFillTx/>
                </a:rPr>
                <a:t>解冻</a:t>
              </a:r>
              <a:endParaRPr lang="zh-CN" altLang="en-US" sz="1000" kern="2400">
                <a:ln w="3175">
                  <a:noFill/>
                </a:ln>
                <a:solidFill>
                  <a:schemeClr val="tx1"/>
                </a:solidFill>
                <a:uFillTx/>
              </a:endParaRPr>
            </a:p>
          </p:txBody>
        </p:sp>
        <p:pic>
          <p:nvPicPr>
            <p:cNvPr id="129" name="图片 128"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0662" y="9500"/>
              <a:ext cx="227" cy="227"/>
            </a:xfrm>
            <a:prstGeom prst="rect">
              <a:avLst/>
            </a:prstGeom>
          </p:spPr>
        </p:pic>
        <p:pic>
          <p:nvPicPr>
            <p:cNvPr id="130" name="图片 129"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53" y="9122"/>
              <a:ext cx="236" cy="233"/>
            </a:xfrm>
            <a:prstGeom prst="rect">
              <a:avLst/>
            </a:prstGeom>
          </p:spPr>
        </p:pic>
        <p:pic>
          <p:nvPicPr>
            <p:cNvPr id="131" name="图片 130"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10679" y="9853"/>
              <a:ext cx="227" cy="227"/>
            </a:xfrm>
            <a:prstGeom prst="rect">
              <a:avLst/>
            </a:prstGeom>
          </p:spPr>
        </p:pic>
      </p:grpSp>
      <p:sp>
        <p:nvSpPr>
          <p:cNvPr id="133" name="文本框 132"/>
          <p:cNvSpPr txBox="1"/>
          <p:nvPr/>
        </p:nvSpPr>
        <p:spPr>
          <a:xfrm>
            <a:off x="2184400" y="403606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p:txBody>
      </p:sp>
      <p:sp>
        <p:nvSpPr>
          <p:cNvPr id="134" name="文本框 133"/>
          <p:cNvSpPr txBox="1"/>
          <p:nvPr/>
        </p:nvSpPr>
        <p:spPr>
          <a:xfrm>
            <a:off x="8532495" y="484314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 HK </a:t>
            </a:r>
            <a:r>
              <a:rPr lang="zh-CN" altLang="en-US" sz="1000" kern="2400">
                <a:ln w="3175">
                  <a:noFill/>
                </a:ln>
                <a:solidFill>
                  <a:schemeClr val="tx1"/>
                </a:solidFill>
                <a:uFillTx/>
              </a:rPr>
              <a:t>税收规划</a:t>
            </a:r>
            <a:r>
              <a:rPr lang="en-US" altLang="zh-CN" sz="1000" kern="2400">
                <a:ln w="3175">
                  <a:noFill/>
                </a:ln>
                <a:solidFill>
                  <a:schemeClr val="tx1"/>
                </a:solidFill>
                <a:uFillTx/>
              </a:rPr>
              <a:t> </a:t>
            </a:r>
            <a:endParaRPr lang="zh-CN" altLang="en-US" sz="1000" kern="2400">
              <a:ln w="3175">
                <a:noFill/>
              </a:ln>
              <a:solidFill>
                <a:schemeClr val="tx1"/>
              </a:solidFill>
              <a:uFillTx/>
            </a:endParaRPr>
          </a:p>
        </p:txBody>
      </p:sp>
      <p:sp>
        <p:nvSpPr>
          <p:cNvPr id="135" name="文本框 134"/>
          <p:cNvSpPr txBox="1"/>
          <p:nvPr/>
        </p:nvSpPr>
        <p:spPr>
          <a:xfrm>
            <a:off x="7056755" y="39509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p:txBody>
      </p:sp>
      <p:sp>
        <p:nvSpPr>
          <p:cNvPr id="137" name="文本框 136"/>
          <p:cNvSpPr txBox="1"/>
          <p:nvPr/>
        </p:nvSpPr>
        <p:spPr>
          <a:xfrm>
            <a:off x="2184400" y="39509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p:txBody>
      </p:sp>
      <p:pic>
        <p:nvPicPr>
          <p:cNvPr id="138" name="图片 137"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65970" y="4937760"/>
            <a:ext cx="149860" cy="147955"/>
          </a:xfrm>
          <a:prstGeom prst="rect">
            <a:avLst/>
          </a:prstGeom>
        </p:spPr>
      </p:pic>
      <p:sp>
        <p:nvSpPr>
          <p:cNvPr id="139" name="文本框 138"/>
          <p:cNvSpPr txBox="1"/>
          <p:nvPr/>
        </p:nvSpPr>
        <p:spPr>
          <a:xfrm>
            <a:off x="3872865" y="403606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200" kern="2400">
              <a:ln w="3175">
                <a:noFill/>
              </a:ln>
              <a:solidFill>
                <a:schemeClr val="tx1"/>
              </a:solidFill>
              <a:uFillTx/>
            </a:endParaRPr>
          </a:p>
        </p:txBody>
      </p:sp>
      <p:sp>
        <p:nvSpPr>
          <p:cNvPr id="141" name="文本框 140"/>
          <p:cNvSpPr txBox="1"/>
          <p:nvPr/>
        </p:nvSpPr>
        <p:spPr>
          <a:xfrm>
            <a:off x="8532495" y="39509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Crypto Assets Fair Value</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FX Gain or Loss </a:t>
            </a:r>
            <a:endParaRPr lang="en-US" altLang="zh-CN" sz="1200" kern="2400">
              <a:ln w="3175">
                <a:noFill/>
              </a:ln>
              <a:solidFill>
                <a:schemeClr val="tx1"/>
              </a:solidFill>
              <a:uFillTx/>
            </a:endParaRPr>
          </a:p>
        </p:txBody>
      </p:sp>
      <p:pic>
        <p:nvPicPr>
          <p:cNvPr id="142" name="图片 141" descr="圆圈完成"/>
          <p:cNvPicPr>
            <a:picLocks noChangeAspect="1"/>
          </p:cNvPicPr>
          <p:nvPr/>
        </p:nvPicPr>
        <p:blipFill>
          <a:blip r:embed="rId7">
            <a:extLst>
              <a:ext uri="{96DAC541-7B7A-43D3-8B79-37D633B846F1}">
                <asvg:svgBlip xmlns:asvg="http://schemas.microsoft.com/office/drawing/2016/SVG/main" r:embed="rId12"/>
              </a:ext>
            </a:extLst>
          </a:blip>
          <a:stretch>
            <a:fillRect/>
          </a:stretch>
        </p:blipFill>
        <p:spPr>
          <a:xfrm>
            <a:off x="9537700" y="4292600"/>
            <a:ext cx="136525" cy="136525"/>
          </a:xfrm>
          <a:prstGeom prst="rect">
            <a:avLst/>
          </a:prstGeom>
        </p:spPr>
      </p:pic>
      <p:pic>
        <p:nvPicPr>
          <p:cNvPr id="143" name="图片 142" descr="圆圈完成"/>
          <p:cNvPicPr>
            <a:picLocks noChangeAspect="1"/>
          </p:cNvPicPr>
          <p:nvPr/>
        </p:nvPicPr>
        <p:blipFill>
          <a:blip r:embed="rId7">
            <a:extLst>
              <a:ext uri="{96DAC541-7B7A-43D3-8B79-37D633B846F1}">
                <asvg:svgBlip xmlns:asvg="http://schemas.microsoft.com/office/drawing/2016/SVG/main" r:embed="rId12"/>
              </a:ext>
            </a:extLst>
          </a:blip>
          <a:stretch>
            <a:fillRect/>
          </a:stretch>
        </p:blipFill>
        <p:spPr>
          <a:xfrm>
            <a:off x="9975215" y="4523740"/>
            <a:ext cx="136525" cy="136525"/>
          </a:xfrm>
          <a:prstGeom prst="rect">
            <a:avLst/>
          </a:prstGeom>
        </p:spPr>
      </p:pic>
      <p:cxnSp>
        <p:nvCxnSpPr>
          <p:cNvPr id="144" name="直接连接符 143"/>
          <p:cNvCxnSpPr/>
          <p:nvPr/>
        </p:nvCxnSpPr>
        <p:spPr>
          <a:xfrm flipV="1">
            <a:off x="436880" y="4705350"/>
            <a:ext cx="16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3756660" y="1083310"/>
            <a:ext cx="147574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Business M</a:t>
            </a:r>
            <a:r>
              <a:rPr lang="en-US" altLang="zh-CN" sz="1400">
                <a:ln w="3175">
                  <a:noFill/>
                </a:ln>
              </a:rPr>
              <a:t>odels</a:t>
            </a:r>
            <a:endParaRPr lang="en-US" altLang="zh-CN" sz="1400">
              <a:ln w="3175">
                <a:noFill/>
              </a:ln>
            </a:endParaRPr>
          </a:p>
        </p:txBody>
      </p:sp>
      <p:sp>
        <p:nvSpPr>
          <p:cNvPr id="84" name="文本框 83"/>
          <p:cNvSpPr txBox="1"/>
          <p:nvPr/>
        </p:nvSpPr>
        <p:spPr>
          <a:xfrm>
            <a:off x="3756660" y="17926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Product Margin</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Chanel Margin</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Revenue Management</a:t>
            </a:r>
            <a:endParaRPr lang="en-US" altLang="zh-CN" sz="1200" kern="2400">
              <a:ln w="3175">
                <a:noFill/>
              </a:ln>
              <a:solidFill>
                <a:schemeClr val="tx1"/>
              </a:solidFill>
              <a:uFillTx/>
            </a:endParaRPr>
          </a:p>
        </p:txBody>
      </p:sp>
      <p:sp>
        <p:nvSpPr>
          <p:cNvPr id="104" name="文本框 103"/>
          <p:cNvSpPr txBox="1"/>
          <p:nvPr/>
        </p:nvSpPr>
        <p:spPr>
          <a:xfrm>
            <a:off x="3756660" y="291401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WaaS Fee </a:t>
            </a:r>
            <a:r>
              <a:rPr lang="en-US" altLang="zh-CN" sz="1200" kern="2400">
                <a:ln w="3175">
                  <a:noFill/>
                </a:ln>
                <a:solidFill>
                  <a:schemeClr val="tx1"/>
                </a:solidFill>
                <a:uFillTx/>
              </a:rPr>
              <a:t>per </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r>
              <a:rPr lang="en-US" altLang="zh-CN" sz="1200" kern="2400">
                <a:ln w="3175">
                  <a:noFill/>
                </a:ln>
                <a:solidFill>
                  <a:schemeClr val="tx1"/>
                </a:solidFill>
                <a:uFillTx/>
              </a:rPr>
              <a:t>Order</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Cost </a:t>
            </a:r>
            <a:r>
              <a:rPr lang="en-US" altLang="zh-CN" sz="1200" kern="2400">
                <a:ln w="3175">
                  <a:noFill/>
                </a:ln>
                <a:solidFill>
                  <a:schemeClr val="tx1"/>
                </a:solidFill>
                <a:uFillTx/>
              </a:rPr>
              <a:t>allocation</a:t>
            </a:r>
            <a:endParaRPr lang="en-US" altLang="zh-CN" sz="1200" kern="2400">
              <a:ln w="3175">
                <a:noFill/>
              </a:ln>
              <a:solidFill>
                <a:schemeClr val="tx1"/>
              </a:solidFill>
              <a:uFillTx/>
            </a:endParaRPr>
          </a:p>
        </p:txBody>
      </p:sp>
      <p:grpSp>
        <p:nvGrpSpPr>
          <p:cNvPr id="155" name="组合 154"/>
          <p:cNvGrpSpPr/>
          <p:nvPr/>
        </p:nvGrpSpPr>
        <p:grpSpPr>
          <a:xfrm rot="0">
            <a:off x="3756660" y="5738495"/>
            <a:ext cx="1475740" cy="986790"/>
            <a:chOff x="5916" y="8829"/>
            <a:chExt cx="2324" cy="1554"/>
          </a:xfrm>
        </p:grpSpPr>
        <p:sp>
          <p:nvSpPr>
            <p:cNvPr id="122" name="文本框 121"/>
            <p:cNvSpPr txBox="1"/>
            <p:nvPr/>
          </p:nvSpPr>
          <p:spPr>
            <a:xfrm>
              <a:off x="5916" y="8829"/>
              <a:ext cx="2324" cy="1554"/>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银行账户及数币账户费率表</a:t>
              </a: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银行账户配置</a:t>
              </a:r>
              <a:r>
                <a:rPr lang="zh-CN" altLang="en-US" sz="1000" kern="2400">
                  <a:ln w="3175">
                    <a:noFill/>
                  </a:ln>
                  <a:solidFill>
                    <a:schemeClr val="tx1"/>
                  </a:solidFill>
                  <a:uFillTx/>
                </a:rPr>
                <a:t>优化</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数币账户</a:t>
              </a:r>
              <a:r>
                <a:rPr lang="zh-CN" altLang="en-US" sz="1000" kern="2400">
                  <a:ln w="3175">
                    <a:noFill/>
                  </a:ln>
                  <a:solidFill>
                    <a:schemeClr val="tx1"/>
                  </a:solidFill>
                  <a:uFillTx/>
                </a:rPr>
                <a:t>区隔</a:t>
              </a:r>
              <a:endParaRPr lang="zh-CN" altLang="en-US" sz="1000" kern="2400">
                <a:ln w="3175">
                  <a:noFill/>
                </a:ln>
                <a:solidFill>
                  <a:schemeClr val="tx1"/>
                </a:solidFill>
                <a:uFillTx/>
              </a:endParaRPr>
            </a:p>
          </p:txBody>
        </p:sp>
        <p:pic>
          <p:nvPicPr>
            <p:cNvPr id="124" name="图片 123"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7457" y="9355"/>
              <a:ext cx="227" cy="227"/>
            </a:xfrm>
            <a:prstGeom prst="rect">
              <a:avLst/>
            </a:prstGeom>
          </p:spPr>
        </p:pic>
        <p:pic>
          <p:nvPicPr>
            <p:cNvPr id="125" name="图片 124"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99" y="9727"/>
              <a:ext cx="236" cy="233"/>
            </a:xfrm>
            <a:prstGeom prst="rect">
              <a:avLst/>
            </a:prstGeom>
          </p:spPr>
        </p:pic>
        <p:pic>
          <p:nvPicPr>
            <p:cNvPr id="126" name="图片 125"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24" y="10080"/>
              <a:ext cx="236" cy="233"/>
            </a:xfrm>
            <a:prstGeom prst="rect">
              <a:avLst/>
            </a:prstGeom>
          </p:spPr>
        </p:pic>
      </p:grpSp>
      <p:sp>
        <p:nvSpPr>
          <p:cNvPr id="145" name="文本框 144"/>
          <p:cNvSpPr txBox="1"/>
          <p:nvPr/>
        </p:nvSpPr>
        <p:spPr>
          <a:xfrm>
            <a:off x="3756660" y="3913505"/>
            <a:ext cx="1863725" cy="168783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WaaS AR </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r>
              <a:rPr lang="en-US" altLang="zh-CN" sz="1200" kern="2400">
                <a:ln w="3175">
                  <a:noFill/>
                </a:ln>
                <a:solidFill>
                  <a:schemeClr val="tx1"/>
                </a:solidFill>
                <a:uFillTx/>
              </a:rPr>
              <a:t>Turnover</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AR Management</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AR Collection</a:t>
            </a:r>
            <a:endParaRPr lang="en-US" altLang="zh-CN" sz="1200" kern="2400">
              <a:ln w="3175">
                <a:noFill/>
              </a:ln>
              <a:solidFill>
                <a:schemeClr val="tx1"/>
              </a:solidFill>
              <a:uFillTx/>
            </a:endParaRPr>
          </a:p>
        </p:txBody>
      </p:sp>
      <p:cxnSp>
        <p:nvCxnSpPr>
          <p:cNvPr id="146" name="直接连接符 145"/>
          <p:cNvCxnSpPr/>
          <p:nvPr/>
        </p:nvCxnSpPr>
        <p:spPr>
          <a:xfrm>
            <a:off x="5543550" y="4761230"/>
            <a:ext cx="4608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pic>
        <p:nvPicPr>
          <p:cNvPr id="148" name="图片 147"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4591050" y="4259580"/>
            <a:ext cx="144000" cy="144000"/>
          </a:xfrm>
          <a:prstGeom prst="rect">
            <a:avLst/>
          </a:prstGeom>
        </p:spPr>
      </p:pic>
      <p:pic>
        <p:nvPicPr>
          <p:cNvPr id="149" name="图片 148"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5079365" y="4705350"/>
            <a:ext cx="144000" cy="144000"/>
          </a:xfrm>
          <a:prstGeom prst="rect">
            <a:avLst/>
          </a:prstGeom>
        </p:spPr>
      </p:pic>
      <p:sp>
        <p:nvSpPr>
          <p:cNvPr id="158" name="文本框 157"/>
          <p:cNvSpPr txBox="1"/>
          <p:nvPr/>
        </p:nvSpPr>
        <p:spPr>
          <a:xfrm>
            <a:off x="2164715" y="3950970"/>
            <a:ext cx="1863725" cy="168783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Bad Debt Write-Off</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AR Collection Accuracy</a:t>
            </a:r>
            <a:r>
              <a:rPr lang="zh-CN" altLang="en-US" sz="1000" kern="2400">
                <a:ln w="3175">
                  <a:noFill/>
                </a:ln>
                <a:solidFill>
                  <a:schemeClr val="tx1"/>
                </a:solidFill>
                <a:uFillTx/>
              </a:rPr>
              <a:t>对账</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周资金计划表</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200" kern="2400">
              <a:ln w="3175">
                <a:noFill/>
              </a:ln>
              <a:solidFill>
                <a:schemeClr val="tx1"/>
              </a:solidFill>
              <a:uFillTx/>
            </a:endParaRPr>
          </a:p>
        </p:txBody>
      </p:sp>
      <p:sp>
        <p:nvSpPr>
          <p:cNvPr id="159" name="文本框 158"/>
          <p:cNvSpPr txBox="1"/>
          <p:nvPr/>
        </p:nvSpPr>
        <p:spPr>
          <a:xfrm>
            <a:off x="7056755" y="397827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p:txBody>
      </p:sp>
      <p:sp>
        <p:nvSpPr>
          <p:cNvPr id="160" name="文本框 159"/>
          <p:cNvSpPr txBox="1"/>
          <p:nvPr/>
        </p:nvSpPr>
        <p:spPr>
          <a:xfrm>
            <a:off x="6914515" y="3961765"/>
            <a:ext cx="1863725" cy="168783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Reserve (1:1) Fund</a:t>
            </a:r>
            <a:br>
              <a:rPr lang="en-US" altLang="zh-CN" sz="1200" kern="2400">
                <a:ln w="3175">
                  <a:noFill/>
                </a:ln>
                <a:solidFill>
                  <a:schemeClr val="tx1"/>
                </a:solidFill>
                <a:uFillTx/>
              </a:rPr>
            </a:br>
            <a:r>
              <a:rPr lang="zh-CN" altLang="en-US" sz="1000" kern="2400">
                <a:ln w="3175">
                  <a:noFill/>
                </a:ln>
                <a:solidFill>
                  <a:schemeClr val="tx1"/>
                </a:solidFill>
                <a:uFillTx/>
              </a:rPr>
              <a:t>储备金监控</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200" kern="2400">
              <a:ln w="3175">
                <a:noFill/>
              </a:ln>
              <a:solidFill>
                <a:schemeClr val="tx1"/>
              </a:solidFill>
              <a:uFillTx/>
            </a:endParaRPr>
          </a:p>
        </p:txBody>
      </p:sp>
      <p:pic>
        <p:nvPicPr>
          <p:cNvPr id="161" name="图片 160"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62570" y="4309110"/>
            <a:ext cx="149860" cy="147955"/>
          </a:xfrm>
          <a:prstGeom prst="rect">
            <a:avLst/>
          </a:prstGeom>
        </p:spPr>
      </p:pic>
      <p:pic>
        <p:nvPicPr>
          <p:cNvPr id="164" name="图片 163"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2415540" y="4259580"/>
            <a:ext cx="144000" cy="144000"/>
          </a:xfrm>
          <a:prstGeom prst="rect">
            <a:avLst/>
          </a:prstGeom>
        </p:spPr>
      </p:pic>
      <p:pic>
        <p:nvPicPr>
          <p:cNvPr id="166" name="图片 165"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17570" y="4742815"/>
            <a:ext cx="149860" cy="147955"/>
          </a:xfrm>
          <a:prstGeom prst="rect">
            <a:avLst/>
          </a:prstGeom>
        </p:spPr>
      </p:pic>
      <p:pic>
        <p:nvPicPr>
          <p:cNvPr id="2" name="图片 1"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20745" y="4968875"/>
            <a:ext cx="149860" cy="147955"/>
          </a:xfrm>
          <a:prstGeom prst="rect">
            <a:avLst/>
          </a:prstGeom>
        </p:spPr>
      </p:pic>
      <p:pic>
        <p:nvPicPr>
          <p:cNvPr id="3" name="图片 2" descr="完成"/>
          <p:cNvPicPr>
            <a:picLocks noChangeAspect="1"/>
          </p:cNvPicPr>
          <p:nvPr/>
        </p:nvPicPr>
        <p:blipFill>
          <a:blip r:embed="rId13">
            <a:extLst>
              <a:ext uri="{96DAC541-7B7A-43D3-8B79-37D633B846F1}">
                <asvg:svgBlip xmlns:asvg="http://schemas.microsoft.com/office/drawing/2016/SVG/main" r:embed="rId11"/>
              </a:ext>
            </a:extLst>
          </a:blip>
          <a:stretch>
            <a:fillRect/>
          </a:stretch>
        </p:blipFill>
        <p:spPr>
          <a:xfrm>
            <a:off x="5232400" y="4457065"/>
            <a:ext cx="144000" cy="14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756660" y="3054985"/>
            <a:ext cx="1487170" cy="373316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涌现的商业模式对财务框架构成挑战，需要持续调整以适应新业务特性。</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助力公司销售业绩增长和客户数增长</a:t>
            </a:r>
            <a:r>
              <a:rPr lang="en-US" altLang="zh-CN" sz="1000" kern="2400">
                <a:ln w="3175">
                  <a:noFill/>
                </a:ln>
                <a:solidFill>
                  <a:schemeClr val="tx1"/>
                </a:solidFill>
                <a:uFillTx/>
              </a:rPr>
              <a:t>, </a:t>
            </a:r>
            <a:r>
              <a:rPr lang="zh-CN" altLang="en-US" sz="1000" kern="2400">
                <a:ln w="3175">
                  <a:noFill/>
                </a:ln>
                <a:solidFill>
                  <a:schemeClr val="tx1"/>
                </a:solidFill>
                <a:uFillTx/>
              </a:rPr>
              <a:t>销售的目标和策略、渠道特点</a:t>
            </a:r>
            <a:r>
              <a:rPr lang="en-US" altLang="zh-CN" sz="1000" kern="2400">
                <a:ln w="3175">
                  <a:noFill/>
                </a:ln>
                <a:solidFill>
                  <a:schemeClr val="tx1"/>
                </a:solidFill>
                <a:uFillTx/>
              </a:rPr>
              <a:t>, </a:t>
            </a:r>
            <a:r>
              <a:rPr lang="zh-CN" altLang="en-US" sz="1000" kern="2400">
                <a:ln w="3175">
                  <a:noFill/>
                </a:ln>
                <a:solidFill>
                  <a:schemeClr val="tx1"/>
                </a:solidFill>
                <a:uFillTx/>
              </a:rPr>
              <a:t>编制收入、成本、毛利的关键</a:t>
            </a:r>
            <a:r>
              <a:rPr lang="zh-CN" altLang="en-US" sz="1000" kern="2400">
                <a:ln w="3175">
                  <a:noFill/>
                </a:ln>
                <a:solidFill>
                  <a:schemeClr val="tx1"/>
                </a:solidFill>
                <a:uFillTx/>
              </a:rPr>
              <a:t>指标。</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p:txBody>
      </p:sp>
      <p:pic>
        <p:nvPicPr>
          <p:cNvPr id="19" name="图片 18" descr="下载 (14)"/>
          <p:cNvPicPr>
            <a:picLocks noChangeAspect="1"/>
          </p:cNvPicPr>
          <p:nvPr/>
        </p:nvPicPr>
        <p:blipFill>
          <a:blip r:embed="rId1"/>
          <a:stretch>
            <a:fillRect/>
          </a:stretch>
        </p:blipFill>
        <p:spPr>
          <a:xfrm>
            <a:off x="4959350" y="5394325"/>
            <a:ext cx="389255" cy="291465"/>
          </a:xfrm>
          <a:prstGeom prst="rect">
            <a:avLst/>
          </a:prstGeom>
        </p:spPr>
      </p:pic>
      <p:sp>
        <p:nvSpPr>
          <p:cNvPr id="11" name="文本框 10"/>
          <p:cNvSpPr txBox="1"/>
          <p:nvPr/>
        </p:nvSpPr>
        <p:spPr>
          <a:xfrm>
            <a:off x="21647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Financial Reporting</a:t>
            </a:r>
            <a:endParaRPr lang="en-US" altLang="zh-CN" sz="1400">
              <a:ln w="3175">
                <a:noFill/>
              </a:ln>
            </a:endParaRPr>
          </a:p>
        </p:txBody>
      </p:sp>
      <p:sp>
        <p:nvSpPr>
          <p:cNvPr id="14" name="文本框 13"/>
          <p:cNvSpPr txBox="1"/>
          <p:nvPr/>
        </p:nvSpPr>
        <p:spPr>
          <a:xfrm>
            <a:off x="534860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Procedures &amp; Policy</a:t>
            </a:r>
            <a:endParaRPr lang="en-US" altLang="zh-CN" sz="1400">
              <a:ln w="3175">
                <a:noFill/>
              </a:ln>
            </a:endParaRPr>
          </a:p>
        </p:txBody>
      </p:sp>
      <p:sp>
        <p:nvSpPr>
          <p:cNvPr id="15" name="文本框 14"/>
          <p:cNvSpPr txBox="1"/>
          <p:nvPr/>
        </p:nvSpPr>
        <p:spPr>
          <a:xfrm>
            <a:off x="69145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Compliance &amp; </a:t>
            </a:r>
            <a:r>
              <a:rPr lang="en-US" altLang="zh-CN" sz="1400">
                <a:ln w="3175">
                  <a:noFill/>
                </a:ln>
              </a:rPr>
              <a:t>Audit</a:t>
            </a:r>
            <a:endParaRPr lang="en-US" altLang="zh-CN" sz="1400">
              <a:ln w="3175">
                <a:noFill/>
              </a:ln>
            </a:endParaRPr>
          </a:p>
        </p:txBody>
      </p:sp>
      <p:sp>
        <p:nvSpPr>
          <p:cNvPr id="16" name="文本框 15"/>
          <p:cNvSpPr txBox="1"/>
          <p:nvPr/>
        </p:nvSpPr>
        <p:spPr>
          <a:xfrm>
            <a:off x="853249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Hedging &amp; Tax</a:t>
            </a:r>
            <a:endParaRPr lang="en-US" altLang="zh-CN" sz="1400">
              <a:ln w="3175">
                <a:noFill/>
              </a:ln>
            </a:endParaRPr>
          </a:p>
        </p:txBody>
      </p:sp>
      <p:sp>
        <p:nvSpPr>
          <p:cNvPr id="17" name="文本框 16"/>
          <p:cNvSpPr txBox="1"/>
          <p:nvPr/>
        </p:nvSpPr>
        <p:spPr>
          <a:xfrm>
            <a:off x="10081260"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Future</a:t>
            </a:r>
            <a:br>
              <a:rPr lang="en-US" altLang="zh-CN" sz="1400">
                <a:ln w="3175">
                  <a:noFill/>
                </a:ln>
              </a:rPr>
            </a:br>
            <a:r>
              <a:rPr lang="en-US" altLang="zh-CN" sz="1400">
                <a:ln w="3175">
                  <a:noFill/>
                </a:ln>
              </a:rPr>
              <a:t>Growth</a:t>
            </a:r>
            <a:endParaRPr lang="en-US" altLang="zh-CN" sz="1400">
              <a:ln w="3175">
                <a:noFill/>
              </a:ln>
            </a:endParaRPr>
          </a:p>
        </p:txBody>
      </p:sp>
      <p:grpSp>
        <p:nvGrpSpPr>
          <p:cNvPr id="42" name="组合 41"/>
          <p:cNvGrpSpPr/>
          <p:nvPr/>
        </p:nvGrpSpPr>
        <p:grpSpPr>
          <a:xfrm rot="0">
            <a:off x="7896225" y="508635"/>
            <a:ext cx="1590675" cy="306705"/>
            <a:chOff x="8621" y="6094"/>
            <a:chExt cx="2476" cy="483"/>
          </a:xfrm>
        </p:grpSpPr>
        <p:pic>
          <p:nvPicPr>
            <p:cNvPr id="28" name="图片 27" descr="圆圈完成"/>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21" y="6094"/>
              <a:ext cx="415" cy="415"/>
            </a:xfrm>
            <a:prstGeom prst="rect">
              <a:avLst/>
            </a:prstGeom>
          </p:spPr>
        </p:pic>
        <p:sp>
          <p:nvSpPr>
            <p:cNvPr id="35" name="文本框 34"/>
            <p:cNvSpPr txBox="1"/>
            <p:nvPr/>
          </p:nvSpPr>
          <p:spPr>
            <a:xfrm>
              <a:off x="9007" y="6095"/>
              <a:ext cx="2091" cy="483"/>
            </a:xfrm>
            <a:prstGeom prst="rect">
              <a:avLst/>
            </a:prstGeom>
            <a:noFill/>
          </p:spPr>
          <p:txBody>
            <a:bodyPr wrap="square" rtlCol="0">
              <a:spAutoFit/>
            </a:bodyPr>
            <a:p>
              <a:r>
                <a:rPr lang="en-US" altLang="zh-CN" sz="1400"/>
                <a:t>In Process</a:t>
              </a:r>
              <a:endParaRPr lang="en-US" altLang="zh-CN" sz="1400"/>
            </a:p>
          </p:txBody>
        </p:sp>
      </p:grpSp>
      <p:grpSp>
        <p:nvGrpSpPr>
          <p:cNvPr id="43" name="组合 42"/>
          <p:cNvGrpSpPr/>
          <p:nvPr/>
        </p:nvGrpSpPr>
        <p:grpSpPr>
          <a:xfrm rot="0">
            <a:off x="10271760" y="508635"/>
            <a:ext cx="1590675" cy="306070"/>
            <a:chOff x="10911" y="6040"/>
            <a:chExt cx="2522" cy="482"/>
          </a:xfrm>
        </p:grpSpPr>
        <p:pic>
          <p:nvPicPr>
            <p:cNvPr id="36" name="图片 35" descr="圆圈完成"/>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11" y="6094"/>
              <a:ext cx="415" cy="415"/>
            </a:xfrm>
            <a:prstGeom prst="rect">
              <a:avLst/>
            </a:prstGeom>
          </p:spPr>
        </p:pic>
        <p:sp>
          <p:nvSpPr>
            <p:cNvPr id="37" name="文本框 36"/>
            <p:cNvSpPr txBox="1"/>
            <p:nvPr/>
          </p:nvSpPr>
          <p:spPr>
            <a:xfrm>
              <a:off x="11343" y="6040"/>
              <a:ext cx="2091" cy="483"/>
            </a:xfrm>
            <a:prstGeom prst="rect">
              <a:avLst/>
            </a:prstGeom>
            <a:noFill/>
          </p:spPr>
          <p:txBody>
            <a:bodyPr wrap="square" rtlCol="0">
              <a:spAutoFit/>
            </a:bodyPr>
            <a:p>
              <a:r>
                <a:rPr lang="en-US" altLang="zh-CN" sz="1400"/>
                <a:t>Risk</a:t>
              </a:r>
              <a:endParaRPr lang="en-US" altLang="zh-CN" sz="1400"/>
            </a:p>
          </p:txBody>
        </p:sp>
      </p:grpSp>
      <p:grpSp>
        <p:nvGrpSpPr>
          <p:cNvPr id="46" name="组合 45"/>
          <p:cNvGrpSpPr/>
          <p:nvPr/>
        </p:nvGrpSpPr>
        <p:grpSpPr>
          <a:xfrm rot="0">
            <a:off x="8788400" y="85725"/>
            <a:ext cx="2062480" cy="313690"/>
            <a:chOff x="7085" y="6861"/>
            <a:chExt cx="3248" cy="494"/>
          </a:xfrm>
        </p:grpSpPr>
        <p:pic>
          <p:nvPicPr>
            <p:cNvPr id="29" name="图片 28" descr="同步完成"/>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85" y="6861"/>
              <a:ext cx="494" cy="494"/>
            </a:xfrm>
            <a:prstGeom prst="rect">
              <a:avLst/>
            </a:prstGeom>
          </p:spPr>
        </p:pic>
        <p:sp>
          <p:nvSpPr>
            <p:cNvPr id="39" name="文本框 38"/>
            <p:cNvSpPr txBox="1"/>
            <p:nvPr/>
          </p:nvSpPr>
          <p:spPr>
            <a:xfrm>
              <a:off x="7579" y="6872"/>
              <a:ext cx="2754" cy="483"/>
            </a:xfrm>
            <a:prstGeom prst="rect">
              <a:avLst/>
            </a:prstGeom>
            <a:noFill/>
          </p:spPr>
          <p:txBody>
            <a:bodyPr wrap="square" rtlCol="0">
              <a:spAutoFit/>
            </a:bodyPr>
            <a:p>
              <a:r>
                <a:rPr lang="en-US" altLang="zh-CN" sz="1400"/>
                <a:t>Submitted </a:t>
              </a:r>
              <a:r>
                <a:rPr lang="zh-CN" altLang="en-US" sz="1000"/>
                <a:t>跨部门</a:t>
              </a:r>
              <a:r>
                <a:rPr lang="en-US" altLang="zh-CN" sz="1000"/>
                <a:t> </a:t>
              </a:r>
              <a:endParaRPr lang="zh-CN" altLang="en-US" sz="1000"/>
            </a:p>
          </p:txBody>
        </p:sp>
      </p:grpSp>
      <p:grpSp>
        <p:nvGrpSpPr>
          <p:cNvPr id="45" name="组合 44"/>
          <p:cNvGrpSpPr/>
          <p:nvPr/>
        </p:nvGrpSpPr>
        <p:grpSpPr>
          <a:xfrm rot="0">
            <a:off x="9215755" y="508635"/>
            <a:ext cx="1583055" cy="306705"/>
            <a:chOff x="12871" y="6092"/>
            <a:chExt cx="2493" cy="483"/>
          </a:xfrm>
        </p:grpSpPr>
        <p:pic>
          <p:nvPicPr>
            <p:cNvPr id="31" name="图片 30" descr="圆圈完成"/>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871" y="6108"/>
              <a:ext cx="415" cy="415"/>
            </a:xfrm>
            <a:prstGeom prst="rect">
              <a:avLst/>
            </a:prstGeom>
          </p:spPr>
        </p:pic>
        <p:sp>
          <p:nvSpPr>
            <p:cNvPr id="40" name="文本框 39"/>
            <p:cNvSpPr txBox="1"/>
            <p:nvPr/>
          </p:nvSpPr>
          <p:spPr>
            <a:xfrm>
              <a:off x="13273" y="6092"/>
              <a:ext cx="2091" cy="483"/>
            </a:xfrm>
            <a:prstGeom prst="rect">
              <a:avLst/>
            </a:prstGeom>
            <a:noFill/>
          </p:spPr>
          <p:txBody>
            <a:bodyPr wrap="square" rtlCol="0">
              <a:spAutoFit/>
            </a:bodyPr>
            <a:p>
              <a:r>
                <a:rPr lang="en-US" altLang="zh-CN" sz="1400"/>
                <a:t>Urgent</a:t>
              </a:r>
              <a:endParaRPr lang="en-US" altLang="zh-CN" sz="1400"/>
            </a:p>
          </p:txBody>
        </p:sp>
      </p:grpSp>
      <p:grpSp>
        <p:nvGrpSpPr>
          <p:cNvPr id="41" name="组合 40"/>
          <p:cNvGrpSpPr/>
          <p:nvPr/>
        </p:nvGrpSpPr>
        <p:grpSpPr>
          <a:xfrm rot="0">
            <a:off x="7894955" y="92710"/>
            <a:ext cx="998220" cy="306705"/>
            <a:chOff x="7178" y="6069"/>
            <a:chExt cx="1572" cy="483"/>
          </a:xfrm>
        </p:grpSpPr>
        <p:sp>
          <p:nvSpPr>
            <p:cNvPr id="34" name="文本框 33"/>
            <p:cNvSpPr txBox="1"/>
            <p:nvPr/>
          </p:nvSpPr>
          <p:spPr>
            <a:xfrm>
              <a:off x="7579" y="6069"/>
              <a:ext cx="1171" cy="483"/>
            </a:xfrm>
            <a:prstGeom prst="rect">
              <a:avLst/>
            </a:prstGeom>
            <a:noFill/>
          </p:spPr>
          <p:txBody>
            <a:bodyPr wrap="square" rtlCol="0">
              <a:spAutoFit/>
            </a:bodyPr>
            <a:p>
              <a:r>
                <a:rPr lang="en-US" altLang="zh-CN" sz="1400"/>
                <a:t>Done</a:t>
              </a:r>
              <a:endParaRPr lang="en-US" altLang="zh-CN" sz="1400"/>
            </a:p>
          </p:txBody>
        </p:sp>
        <p:pic>
          <p:nvPicPr>
            <p:cNvPr id="27" name="图片 26" descr="完成"/>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78" y="6108"/>
              <a:ext cx="401" cy="401"/>
            </a:xfrm>
            <a:prstGeom prst="rect">
              <a:avLst/>
            </a:prstGeom>
          </p:spPr>
        </p:pic>
      </p:grpSp>
      <p:cxnSp>
        <p:nvCxnSpPr>
          <p:cNvPr id="51" name="直接连接符 50"/>
          <p:cNvCxnSpPr/>
          <p:nvPr/>
        </p:nvCxnSpPr>
        <p:spPr>
          <a:xfrm flipV="1">
            <a:off x="252095" y="175768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0" name="直接连接符 59"/>
          <p:cNvCxnSpPr/>
          <p:nvPr/>
        </p:nvCxnSpPr>
        <p:spPr>
          <a:xfrm flipV="1">
            <a:off x="326390" y="2864485"/>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68" name="文本框 67"/>
          <p:cNvSpPr txBox="1"/>
          <p:nvPr/>
        </p:nvSpPr>
        <p:spPr>
          <a:xfrm>
            <a:off x="2164715" y="17926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Transaction Rev</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r>
              <a:rPr lang="en-US" altLang="zh-CN" sz="1200" kern="2400">
                <a:ln w="3175">
                  <a:noFill/>
                </a:ln>
                <a:solidFill>
                  <a:schemeClr val="tx1"/>
                </a:solidFill>
                <a:uFillTx/>
              </a:rPr>
              <a:t>Reconcile</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Completeness</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Revenue Fcst</a:t>
            </a:r>
            <a:endParaRPr lang="en-US" altLang="zh-CN" sz="1200" kern="2400">
              <a:ln w="3175">
                <a:noFill/>
              </a:ln>
              <a:solidFill>
                <a:schemeClr val="tx1"/>
              </a:solidFill>
              <a:uFillTx/>
            </a:endParaRPr>
          </a:p>
        </p:txBody>
      </p:sp>
      <p:pic>
        <p:nvPicPr>
          <p:cNvPr id="69" name="图片 68" descr="完成"/>
          <p:cNvPicPr>
            <a:picLocks noChangeAspect="1"/>
          </p:cNvPicPr>
          <p:nvPr/>
        </p:nvPicPr>
        <p:blipFill>
          <a:blip r:embed="rId10">
            <a:extLst>
              <a:ext uri="{96DAC541-7B7A-43D3-8B79-37D633B846F1}">
                <asvg:svgBlip xmlns:asvg="http://schemas.microsoft.com/office/drawing/2016/SVG/main" r:embed="rId12"/>
              </a:ext>
            </a:extLst>
          </a:blip>
          <a:stretch>
            <a:fillRect/>
          </a:stretch>
        </p:blipFill>
        <p:spPr>
          <a:xfrm>
            <a:off x="2979420" y="2122805"/>
            <a:ext cx="144000" cy="144000"/>
          </a:xfrm>
          <a:prstGeom prst="rect">
            <a:avLst/>
          </a:prstGeom>
        </p:spPr>
      </p:pic>
      <p:sp>
        <p:nvSpPr>
          <p:cNvPr id="71" name="文本框 70"/>
          <p:cNvSpPr txBox="1"/>
          <p:nvPr/>
        </p:nvSpPr>
        <p:spPr>
          <a:xfrm>
            <a:off x="334010" y="188404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Revenue Recognition</a:t>
            </a:r>
            <a:endParaRPr lang="en-US" altLang="zh-CN" sz="1400">
              <a:ln w="3175">
                <a:noFill/>
              </a:ln>
            </a:endParaRPr>
          </a:p>
        </p:txBody>
      </p:sp>
      <p:sp>
        <p:nvSpPr>
          <p:cNvPr id="79" name="文本框 78"/>
          <p:cNvSpPr txBox="1"/>
          <p:nvPr/>
        </p:nvSpPr>
        <p:spPr>
          <a:xfrm>
            <a:off x="8532495" y="1798320"/>
            <a:ext cx="1475740" cy="98107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a:buSzPct val="100000"/>
              <a:buFont typeface="Arial" panose="020B0604020202020204" pitchFamily="34" charset="0"/>
              <a:buNone/>
            </a:pPr>
            <a:endParaRPr lang="zh-CN" altLang="en-US" sz="800" kern="2400">
              <a:ln w="3175">
                <a:noFill/>
              </a:ln>
              <a:solidFill>
                <a:schemeClr val="tx1"/>
              </a:solidFill>
              <a:uFillTx/>
            </a:endParaRPr>
          </a:p>
        </p:txBody>
      </p:sp>
      <p:pic>
        <p:nvPicPr>
          <p:cNvPr id="82" name="图片 81" descr="完成"/>
          <p:cNvPicPr>
            <a:picLocks noChangeAspect="1"/>
          </p:cNvPicPr>
          <p:nvPr/>
        </p:nvPicPr>
        <p:blipFill>
          <a:blip r:embed="rId10">
            <a:extLst>
              <a:ext uri="{96DAC541-7B7A-43D3-8B79-37D633B846F1}">
                <asvg:svgBlip xmlns:asvg="http://schemas.microsoft.com/office/drawing/2016/SVG/main" r:embed="rId12"/>
              </a:ext>
            </a:extLst>
          </a:blip>
          <a:stretch>
            <a:fillRect/>
          </a:stretch>
        </p:blipFill>
        <p:spPr>
          <a:xfrm>
            <a:off x="3488055" y="2363470"/>
            <a:ext cx="144000" cy="144000"/>
          </a:xfrm>
          <a:prstGeom prst="rect">
            <a:avLst/>
          </a:prstGeom>
        </p:spPr>
      </p:pic>
      <p:pic>
        <p:nvPicPr>
          <p:cNvPr id="83" name="图片 82" descr="圆圈完成"/>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89960" y="2607945"/>
            <a:ext cx="149860" cy="147955"/>
          </a:xfrm>
          <a:prstGeom prst="rect">
            <a:avLst/>
          </a:prstGeom>
        </p:spPr>
      </p:pic>
      <p:pic>
        <p:nvPicPr>
          <p:cNvPr id="85" name="图片 84" descr="完成"/>
          <p:cNvPicPr>
            <a:picLocks noChangeAspect="1"/>
          </p:cNvPicPr>
          <p:nvPr/>
        </p:nvPicPr>
        <p:blipFill>
          <a:blip r:embed="rId10">
            <a:extLst>
              <a:ext uri="{96DAC541-7B7A-43D3-8B79-37D633B846F1}">
                <asvg:svgBlip xmlns:asvg="http://schemas.microsoft.com/office/drawing/2016/SVG/main" r:embed="rId12"/>
              </a:ext>
            </a:extLst>
          </a:blip>
          <a:stretch>
            <a:fillRect/>
          </a:stretch>
        </p:blipFill>
        <p:spPr>
          <a:xfrm>
            <a:off x="5099050" y="1925320"/>
            <a:ext cx="144000" cy="144000"/>
          </a:xfrm>
          <a:prstGeom prst="rect">
            <a:avLst/>
          </a:prstGeom>
        </p:spPr>
      </p:pic>
      <p:pic>
        <p:nvPicPr>
          <p:cNvPr id="86" name="图片 85" descr="完成"/>
          <p:cNvPicPr>
            <a:picLocks noChangeAspect="1"/>
          </p:cNvPicPr>
          <p:nvPr/>
        </p:nvPicPr>
        <p:blipFill>
          <a:blip r:embed="rId10">
            <a:extLst>
              <a:ext uri="{96DAC541-7B7A-43D3-8B79-37D633B846F1}">
                <asvg:svgBlip xmlns:asvg="http://schemas.microsoft.com/office/drawing/2016/SVG/main" r:embed="rId12"/>
              </a:ext>
            </a:extLst>
          </a:blip>
          <a:stretch>
            <a:fillRect/>
          </a:stretch>
        </p:blipFill>
        <p:spPr>
          <a:xfrm>
            <a:off x="5102225" y="2167890"/>
            <a:ext cx="144000" cy="144000"/>
          </a:xfrm>
          <a:prstGeom prst="rect">
            <a:avLst/>
          </a:prstGeom>
        </p:spPr>
      </p:pic>
      <p:pic>
        <p:nvPicPr>
          <p:cNvPr id="87" name="图片 86" descr="圆圈完成"/>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02225" y="2590800"/>
            <a:ext cx="149860" cy="147955"/>
          </a:xfrm>
          <a:prstGeom prst="rect">
            <a:avLst/>
          </a:prstGeom>
        </p:spPr>
      </p:pic>
      <p:sp>
        <p:nvSpPr>
          <p:cNvPr id="88" name="文本框 87"/>
          <p:cNvSpPr txBox="1"/>
          <p:nvPr/>
        </p:nvSpPr>
        <p:spPr>
          <a:xfrm>
            <a:off x="5348605" y="17926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商户余额变动</a:t>
            </a:r>
            <a:r>
              <a:rPr lang="zh-CN" altLang="en-US" sz="1000" kern="2400">
                <a:ln w="3175">
                  <a:noFill/>
                </a:ln>
                <a:solidFill>
                  <a:schemeClr val="tx1"/>
                </a:solidFill>
                <a:uFillTx/>
              </a:rPr>
              <a:t>表</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r>
              <a:rPr lang="zh-CN" altLang="en-US" sz="1000" kern="2400">
                <a:ln w="3175">
                  <a:noFill/>
                </a:ln>
                <a:solidFill>
                  <a:schemeClr val="tx1"/>
                </a:solidFill>
                <a:uFillTx/>
              </a:rPr>
              <a:t>自动化</a:t>
            </a:r>
            <a:endParaRPr lang="zh-CN" altLang="en-US" sz="1000" kern="2400">
              <a:ln w="3175">
                <a:noFill/>
              </a:ln>
              <a:solidFill>
                <a:schemeClr val="tx1"/>
              </a:solidFill>
              <a:uFillTx/>
            </a:endParaRPr>
          </a:p>
        </p:txBody>
      </p:sp>
      <p:pic>
        <p:nvPicPr>
          <p:cNvPr id="92" name="图片 91" descr="同步完成"/>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67400" y="2088515"/>
            <a:ext cx="223520" cy="223520"/>
          </a:xfrm>
          <a:prstGeom prst="rect">
            <a:avLst/>
          </a:prstGeom>
        </p:spPr>
      </p:pic>
      <p:sp>
        <p:nvSpPr>
          <p:cNvPr id="93" name="文本框 92"/>
          <p:cNvSpPr txBox="1"/>
          <p:nvPr/>
        </p:nvSpPr>
        <p:spPr>
          <a:xfrm>
            <a:off x="8532495" y="18180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多币种财务</a:t>
            </a:r>
            <a:r>
              <a:rPr lang="zh-CN" altLang="en-US" sz="1000" kern="2400">
                <a:ln w="3175">
                  <a:noFill/>
                </a:ln>
                <a:solidFill>
                  <a:schemeClr val="tx1"/>
                </a:solidFill>
                <a:uFillTx/>
              </a:rPr>
              <a:t>规划</a:t>
            </a:r>
            <a:endParaRPr lang="zh-CN" altLang="en-US" sz="1000" kern="2400">
              <a:ln w="3175">
                <a:noFill/>
              </a:ln>
              <a:solidFill>
                <a:schemeClr val="tx1"/>
              </a:solidFill>
              <a:uFillTx/>
            </a:endParaRPr>
          </a:p>
        </p:txBody>
      </p:sp>
      <p:pic>
        <p:nvPicPr>
          <p:cNvPr id="94" name="图片 93" descr="圆圈完成"/>
          <p:cNvPicPr>
            <a:picLocks noChangeAspect="1"/>
          </p:cNvPicPr>
          <p:nvPr/>
        </p:nvPicPr>
        <p:blipFill>
          <a:blip r:embed="rId8">
            <a:extLst>
              <a:ext uri="{96DAC541-7B7A-43D3-8B79-37D633B846F1}">
                <asvg:svgBlip xmlns:asvg="http://schemas.microsoft.com/office/drawing/2016/SVG/main" r:embed="rId13"/>
              </a:ext>
            </a:extLst>
          </a:blip>
          <a:stretch>
            <a:fillRect/>
          </a:stretch>
        </p:blipFill>
        <p:spPr>
          <a:xfrm>
            <a:off x="9720580" y="1945005"/>
            <a:ext cx="136525" cy="136525"/>
          </a:xfrm>
          <a:prstGeom prst="rect">
            <a:avLst/>
          </a:prstGeom>
        </p:spPr>
      </p:pic>
      <p:sp>
        <p:nvSpPr>
          <p:cNvPr id="95" name="文本框 94"/>
          <p:cNvSpPr txBox="1"/>
          <p:nvPr/>
        </p:nvSpPr>
        <p:spPr>
          <a:xfrm>
            <a:off x="10081260" y="18180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为投资者和利益相关者提供透明和准确的业绩视图，吸引更多合作机会。</a:t>
            </a:r>
            <a:endParaRPr lang="zh-CN" altLang="en-US" sz="1000" kern="2400">
              <a:ln w="3175">
                <a:noFill/>
              </a:ln>
              <a:solidFill>
                <a:schemeClr val="tx1"/>
              </a:solidFill>
              <a:uFillTx/>
            </a:endParaRPr>
          </a:p>
        </p:txBody>
      </p:sp>
      <p:sp>
        <p:nvSpPr>
          <p:cNvPr id="96" name="文本框 95"/>
          <p:cNvSpPr txBox="1"/>
          <p:nvPr/>
        </p:nvSpPr>
        <p:spPr>
          <a:xfrm>
            <a:off x="6914515" y="180975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经</a:t>
            </a:r>
            <a:r>
              <a:rPr lang="zh-CN" altLang="en-US" sz="1000" kern="2400">
                <a:ln w="3175">
                  <a:noFill/>
                </a:ln>
                <a:solidFill>
                  <a:schemeClr val="tx1"/>
                </a:solidFill>
                <a:uFillTx/>
              </a:rPr>
              <a:t>得起审计的财务报表</a:t>
            </a:r>
            <a:r>
              <a:rPr lang="en-US" altLang="zh-CN" sz="1000" kern="2400">
                <a:ln w="3175">
                  <a:noFill/>
                </a:ln>
                <a:solidFill>
                  <a:schemeClr val="tx1"/>
                </a:solidFill>
                <a:uFillTx/>
              </a:rPr>
              <a:t>, </a:t>
            </a:r>
            <a:r>
              <a:rPr lang="zh-CN" altLang="en-US" sz="1000" kern="2400">
                <a:ln w="3175">
                  <a:noFill/>
                </a:ln>
                <a:solidFill>
                  <a:schemeClr val="tx1"/>
                </a:solidFill>
                <a:uFillTx/>
              </a:rPr>
              <a:t>满足日益严格的合规</a:t>
            </a:r>
            <a:r>
              <a:rPr lang="zh-CN" altLang="en-US" sz="1000" kern="2400">
                <a:ln w="3175">
                  <a:noFill/>
                </a:ln>
                <a:solidFill>
                  <a:schemeClr val="tx1"/>
                </a:solidFill>
                <a:uFillTx/>
              </a:rPr>
              <a:t>要求</a:t>
            </a:r>
            <a:endParaRPr lang="zh-CN" altLang="en-US" sz="1000" kern="2400">
              <a:ln w="3175">
                <a:noFill/>
              </a:ln>
              <a:solidFill>
                <a:schemeClr val="tx1"/>
              </a:solidFill>
              <a:uFillTx/>
            </a:endParaRPr>
          </a:p>
        </p:txBody>
      </p:sp>
      <p:pic>
        <p:nvPicPr>
          <p:cNvPr id="97" name="图片 96" descr="圆圈完成"/>
          <p:cNvPicPr>
            <a:picLocks noChangeAspect="1"/>
          </p:cNvPicPr>
          <p:nvPr/>
        </p:nvPicPr>
        <p:blipFill>
          <a:blip r:embed="rId8">
            <a:extLst>
              <a:ext uri="{96DAC541-7B7A-43D3-8B79-37D633B846F1}">
                <asvg:svgBlip xmlns:asvg="http://schemas.microsoft.com/office/drawing/2016/SVG/main" r:embed="rId13"/>
              </a:ext>
            </a:extLst>
          </a:blip>
          <a:stretch>
            <a:fillRect/>
          </a:stretch>
        </p:blipFill>
        <p:spPr>
          <a:xfrm>
            <a:off x="7844155" y="2387600"/>
            <a:ext cx="136525" cy="136525"/>
          </a:xfrm>
          <a:prstGeom prst="rect">
            <a:avLst/>
          </a:prstGeom>
        </p:spPr>
      </p:pic>
      <p:sp>
        <p:nvSpPr>
          <p:cNvPr id="13" name="文本框 12"/>
          <p:cNvSpPr txBox="1"/>
          <p:nvPr/>
        </p:nvSpPr>
        <p:spPr>
          <a:xfrm>
            <a:off x="3756660" y="1083310"/>
            <a:ext cx="147574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Business M</a:t>
            </a:r>
            <a:r>
              <a:rPr lang="en-US" altLang="zh-CN" sz="1400">
                <a:ln w="3175">
                  <a:noFill/>
                </a:ln>
              </a:rPr>
              <a:t>odels</a:t>
            </a:r>
            <a:endParaRPr lang="en-US" altLang="zh-CN" sz="1400">
              <a:ln w="3175">
                <a:noFill/>
              </a:ln>
            </a:endParaRPr>
          </a:p>
        </p:txBody>
      </p:sp>
      <p:sp>
        <p:nvSpPr>
          <p:cNvPr id="84" name="文本框 83"/>
          <p:cNvSpPr txBox="1"/>
          <p:nvPr/>
        </p:nvSpPr>
        <p:spPr>
          <a:xfrm>
            <a:off x="3756660" y="179260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Product Margin</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Chanel Margin</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Revenue Management</a:t>
            </a:r>
            <a:endParaRPr lang="en-US" altLang="zh-CN" sz="1200" kern="2400">
              <a:ln w="3175">
                <a:noFill/>
              </a:ln>
              <a:solidFill>
                <a:schemeClr val="tx1"/>
              </a:solidFill>
              <a:uFillTx/>
            </a:endParaRPr>
          </a:p>
        </p:txBody>
      </p:sp>
      <p:sp>
        <p:nvSpPr>
          <p:cNvPr id="3" name="文本框 2"/>
          <p:cNvSpPr txBox="1"/>
          <p:nvPr/>
        </p:nvSpPr>
        <p:spPr>
          <a:xfrm>
            <a:off x="394970" y="311594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endParaRPr lang="zh-CN" altLang="en-US" sz="1400">
              <a:ln w="3175">
                <a:noFill/>
              </a:ln>
            </a:endParaRPr>
          </a:p>
        </p:txBody>
      </p:sp>
      <p:sp>
        <p:nvSpPr>
          <p:cNvPr id="4" name="文本框 3"/>
          <p:cNvSpPr txBox="1"/>
          <p:nvPr/>
        </p:nvSpPr>
        <p:spPr>
          <a:xfrm>
            <a:off x="394970" y="305498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Challenges</a:t>
            </a:r>
            <a:endParaRPr lang="en-US" altLang="zh-CN" sz="1400">
              <a:ln w="3175">
                <a:noFill/>
              </a:ln>
            </a:endParaRPr>
          </a:p>
        </p:txBody>
      </p:sp>
      <p:sp>
        <p:nvSpPr>
          <p:cNvPr id="6" name="文本框 5"/>
          <p:cNvSpPr txBox="1"/>
          <p:nvPr/>
        </p:nvSpPr>
        <p:spPr>
          <a:xfrm>
            <a:off x="2164715" y="3054985"/>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228600" indent="-22860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不同主体收入确认的标准。</a:t>
            </a:r>
            <a:endParaRPr lang="zh-CN" altLang="en-US" sz="1000" kern="2400">
              <a:ln w="3175">
                <a:noFill/>
              </a:ln>
              <a:solidFill>
                <a:schemeClr val="tx1"/>
              </a:solidFill>
              <a:uFillTx/>
            </a:endParaRPr>
          </a:p>
          <a:p>
            <a:pPr marL="228600" indent="-22860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228600" indent="-22860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不同业务类型</a:t>
            </a:r>
            <a:r>
              <a:rPr lang="en-US" altLang="zh-CN" sz="1000" kern="2400">
                <a:ln w="3175">
                  <a:noFill/>
                </a:ln>
                <a:solidFill>
                  <a:schemeClr val="tx1"/>
                </a:solidFill>
                <a:uFillTx/>
              </a:rPr>
              <a:t>(</a:t>
            </a:r>
            <a:r>
              <a:rPr lang="zh-CN" altLang="en-US" sz="1000" kern="2400">
                <a:ln w="3175">
                  <a:noFill/>
                </a:ln>
                <a:solidFill>
                  <a:schemeClr val="tx1"/>
                </a:solidFill>
                <a:uFillTx/>
              </a:rPr>
              <a:t>交易手续费、挖矿收益、库存币投资收益、数币收单、数法互换、发卡、第三方</a:t>
            </a:r>
            <a:r>
              <a:rPr lang="en-US" altLang="zh-CN" sz="1000" kern="2400">
                <a:ln w="3175">
                  <a:noFill/>
                </a:ln>
                <a:solidFill>
                  <a:schemeClr val="tx1"/>
                </a:solidFill>
                <a:uFillTx/>
              </a:rPr>
              <a:t>) </a:t>
            </a:r>
            <a:r>
              <a:rPr lang="zh-CN" altLang="en-US" sz="1000" kern="2400">
                <a:ln w="3175">
                  <a:noFill/>
                </a:ln>
                <a:solidFill>
                  <a:schemeClr val="tx1"/>
                </a:solidFill>
                <a:uFillTx/>
              </a:rPr>
              <a:t>收入确认的</a:t>
            </a:r>
            <a:r>
              <a:rPr lang="zh-CN" altLang="en-US" sz="1000" kern="2400">
                <a:ln w="3175">
                  <a:noFill/>
                </a:ln>
                <a:solidFill>
                  <a:schemeClr val="tx1"/>
                </a:solidFill>
                <a:uFillTx/>
              </a:rPr>
              <a:t>标准。</a:t>
            </a:r>
            <a:endParaRPr lang="zh-CN" altLang="en-US" sz="1000" kern="2400">
              <a:ln w="3175">
                <a:noFill/>
              </a:ln>
              <a:solidFill>
                <a:schemeClr val="tx1"/>
              </a:solidFill>
              <a:uFillTx/>
            </a:endParaRPr>
          </a:p>
          <a:p>
            <a:pPr marL="228600" indent="-22860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228600" indent="-22860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收入确认政策由财务部制定</a:t>
            </a:r>
            <a:r>
              <a:rPr lang="en-US" altLang="zh-CN" sz="1000" kern="2400">
                <a:ln w="3175">
                  <a:noFill/>
                </a:ln>
                <a:solidFill>
                  <a:schemeClr val="tx1"/>
                </a:solidFill>
                <a:uFillTx/>
              </a:rPr>
              <a:t>, </a:t>
            </a:r>
            <a:r>
              <a:rPr lang="zh-CN" altLang="en-US" sz="1000" kern="2400">
                <a:ln w="3175">
                  <a:noFill/>
                </a:ln>
                <a:solidFill>
                  <a:schemeClr val="tx1"/>
                </a:solidFill>
                <a:uFillTx/>
              </a:rPr>
              <a:t>必要时寻求外部意见。政策的更新和沟通也至关</a:t>
            </a:r>
            <a:r>
              <a:rPr lang="zh-CN" altLang="en-US" sz="1000" kern="2400">
                <a:ln w="3175">
                  <a:noFill/>
                </a:ln>
                <a:solidFill>
                  <a:schemeClr val="tx1"/>
                </a:solidFill>
                <a:uFillTx/>
              </a:rPr>
              <a:t>重要。</a:t>
            </a:r>
            <a:endParaRPr lang="zh-CN" altLang="en-US" sz="1000" kern="2400">
              <a:ln w="3175">
                <a:noFill/>
              </a:ln>
              <a:solidFill>
                <a:schemeClr val="tx1"/>
              </a:solidFill>
              <a:uFillTx/>
            </a:endParaRPr>
          </a:p>
        </p:txBody>
      </p:sp>
      <p:sp>
        <p:nvSpPr>
          <p:cNvPr id="8" name="文本框 7"/>
          <p:cNvSpPr txBox="1"/>
          <p:nvPr/>
        </p:nvSpPr>
        <p:spPr>
          <a:xfrm>
            <a:off x="5348605" y="3054985"/>
            <a:ext cx="1475740" cy="222123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建立财务信息系统</a:t>
            </a:r>
            <a:r>
              <a:rPr lang="en-US" altLang="zh-CN" sz="1000" kern="2400">
                <a:ln w="3175">
                  <a:noFill/>
                </a:ln>
                <a:solidFill>
                  <a:schemeClr val="tx1"/>
                </a:solidFill>
                <a:uFillTx/>
              </a:rPr>
              <a:t>(Knowledge Management System)</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发送加密货币账单（Sending Crypto Invoices）</a:t>
            </a:r>
            <a:endParaRPr lang="en-US" altLang="zh-CN" sz="1000" kern="2400">
              <a:ln w="3175">
                <a:noFill/>
              </a:ln>
              <a:solidFill>
                <a:schemeClr val="tx1"/>
              </a:solidFill>
              <a:uFillTx/>
            </a:endParaRPr>
          </a:p>
        </p:txBody>
      </p:sp>
      <p:sp>
        <p:nvSpPr>
          <p:cNvPr id="9" name="文本框 8"/>
          <p:cNvSpPr txBox="1"/>
          <p:nvPr/>
        </p:nvSpPr>
        <p:spPr>
          <a:xfrm>
            <a:off x="6914515" y="3054985"/>
            <a:ext cx="1475740" cy="357505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数字货币会计处理尚未在全球范围内形成统一标准。需要密切关注</a:t>
            </a:r>
            <a:r>
              <a:rPr lang="en-US" altLang="zh-CN" sz="1000" kern="2400">
                <a:ln w="3175">
                  <a:noFill/>
                </a:ln>
                <a:solidFill>
                  <a:schemeClr val="tx1"/>
                </a:solidFill>
                <a:uFillTx/>
              </a:rPr>
              <a:t>IFRS, GAAP</a:t>
            </a:r>
            <a:r>
              <a:rPr lang="zh-CN" altLang="en-US" sz="1000" kern="2400">
                <a:ln w="3175">
                  <a:noFill/>
                </a:ln>
                <a:solidFill>
                  <a:schemeClr val="tx1"/>
                </a:solidFill>
                <a:uFillTx/>
              </a:rPr>
              <a:t>等最新</a:t>
            </a:r>
            <a:r>
              <a:rPr lang="zh-CN" altLang="en-US" sz="1000" kern="2400">
                <a:ln w="3175">
                  <a:noFill/>
                </a:ln>
                <a:solidFill>
                  <a:schemeClr val="tx1"/>
                </a:solidFill>
                <a:uFillTx/>
              </a:rPr>
              <a:t>发展。</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资产分类</a:t>
            </a:r>
            <a:r>
              <a:rPr lang="en-US" altLang="zh-CN" sz="1000" kern="2400">
                <a:ln w="3175">
                  <a:noFill/>
                </a:ln>
                <a:solidFill>
                  <a:schemeClr val="tx1"/>
                </a:solidFill>
                <a:uFillTx/>
              </a:rPr>
              <a:t>(</a:t>
            </a:r>
            <a:r>
              <a:rPr lang="zh-CN" altLang="en-US" sz="1000" kern="2400">
                <a:ln w="3175">
                  <a:noFill/>
                </a:ln>
                <a:solidFill>
                  <a:schemeClr val="tx1"/>
                </a:solidFill>
                <a:uFillTx/>
              </a:rPr>
              <a:t>货币、金融资产、无形资产等</a:t>
            </a:r>
            <a:r>
              <a:rPr lang="en-US" altLang="zh-CN" sz="1000" kern="2400">
                <a:ln w="3175">
                  <a:noFill/>
                </a:ln>
                <a:solidFill>
                  <a:schemeClr val="tx1"/>
                </a:solidFill>
                <a:uFillTx/>
              </a:rPr>
              <a:t>)</a:t>
            </a:r>
            <a:r>
              <a:rPr lang="zh-CN" altLang="en-US" sz="1000" kern="2400">
                <a:ln w="3175">
                  <a:noFill/>
                </a:ln>
                <a:solidFill>
                  <a:schemeClr val="tx1"/>
                </a:solidFill>
                <a:uFillTx/>
              </a:rPr>
              <a:t>、计价</a:t>
            </a:r>
            <a:r>
              <a:rPr lang="en-US" altLang="zh-CN" sz="1000" kern="2400">
                <a:ln w="3175">
                  <a:noFill/>
                </a:ln>
                <a:solidFill>
                  <a:schemeClr val="tx1"/>
                </a:solidFill>
                <a:uFillTx/>
              </a:rPr>
              <a:t>(</a:t>
            </a:r>
            <a:r>
              <a:rPr lang="zh-CN" altLang="en-US" sz="1000" kern="2400">
                <a:ln w="3175">
                  <a:noFill/>
                </a:ln>
                <a:solidFill>
                  <a:schemeClr val="tx1"/>
                </a:solidFill>
                <a:uFillTx/>
              </a:rPr>
              <a:t>成本、市价、公允价值</a:t>
            </a:r>
            <a:r>
              <a:rPr lang="en-US" altLang="zh-CN" sz="1000" kern="2400">
                <a:ln w="3175">
                  <a:noFill/>
                </a:ln>
                <a:solidFill>
                  <a:schemeClr val="tx1"/>
                </a:solidFill>
                <a:uFillTx/>
              </a:rPr>
              <a:t>)</a:t>
            </a:r>
            <a:r>
              <a:rPr lang="zh-CN" altLang="en-US" sz="1000" kern="2400">
                <a:ln w="3175">
                  <a:noFill/>
                </a:ln>
                <a:solidFill>
                  <a:schemeClr val="tx1"/>
                </a:solidFill>
                <a:uFillTx/>
              </a:rPr>
              <a:t>、减值处理、</a:t>
            </a:r>
            <a:r>
              <a:rPr lang="zh-CN" altLang="en-US" sz="1000" kern="2400">
                <a:ln w="3175">
                  <a:noFill/>
                </a:ln>
                <a:solidFill>
                  <a:schemeClr val="tx1"/>
                </a:solidFill>
                <a:uFillTx/>
              </a:rPr>
              <a:t>税收。</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对外财务报表的规划（</a:t>
            </a:r>
            <a:r>
              <a:rPr lang="en-US" altLang="zh-CN" sz="1000" kern="2400">
                <a:ln w="3175">
                  <a:noFill/>
                </a:ln>
                <a:solidFill>
                  <a:schemeClr val="tx1"/>
                </a:solidFill>
                <a:uFillTx/>
              </a:rPr>
              <a:t> </a:t>
            </a:r>
            <a:r>
              <a:rPr lang="zh-CN" altLang="en-US" sz="1000" kern="2400">
                <a:ln w="3175">
                  <a:noFill/>
                </a:ln>
                <a:solidFill>
                  <a:schemeClr val="tx1"/>
                </a:solidFill>
                <a:uFillTx/>
              </a:rPr>
              <a:t>经营单元、组织架构</a:t>
            </a:r>
            <a:r>
              <a:rPr lang="zh-CN" altLang="en-US" sz="1000" kern="2400">
                <a:ln w="3175">
                  <a:noFill/>
                </a:ln>
                <a:solidFill>
                  <a:schemeClr val="tx1"/>
                </a:solidFill>
                <a:uFillTx/>
              </a:rPr>
              <a:t>等）</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p:txBody>
      </p:sp>
      <p:sp>
        <p:nvSpPr>
          <p:cNvPr id="10" name="文本框 9"/>
          <p:cNvSpPr txBox="1"/>
          <p:nvPr/>
        </p:nvSpPr>
        <p:spPr>
          <a:xfrm>
            <a:off x="8532495" y="3054985"/>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涉及多币种交易的公司</a:t>
            </a:r>
            <a:r>
              <a:rPr lang="en-US" altLang="zh-CN" sz="1000" kern="2400">
                <a:ln w="3175">
                  <a:noFill/>
                </a:ln>
                <a:solidFill>
                  <a:schemeClr val="tx1"/>
                </a:solidFill>
                <a:uFillTx/>
              </a:rPr>
              <a:t>, </a:t>
            </a:r>
            <a:r>
              <a:rPr lang="zh-CN" altLang="en-US" sz="1000" kern="2400">
                <a:ln w="3175">
                  <a:noFill/>
                </a:ln>
                <a:solidFill>
                  <a:schemeClr val="tx1"/>
                </a:solidFill>
                <a:uFillTx/>
              </a:rPr>
              <a:t>汇率波动影响收入的实际价值</a:t>
            </a:r>
            <a:r>
              <a:rPr lang="en-US" altLang="zh-CN" sz="1000" kern="2400">
                <a:ln w="3175">
                  <a:noFill/>
                </a:ln>
                <a:solidFill>
                  <a:schemeClr val="tx1"/>
                </a:solidFill>
                <a:uFillTx/>
              </a:rPr>
              <a:t>, </a:t>
            </a:r>
            <a:r>
              <a:rPr lang="zh-CN" altLang="en-US" sz="1000" kern="2400">
                <a:ln w="3175">
                  <a:noFill/>
                </a:ln>
                <a:solidFill>
                  <a:schemeClr val="tx1"/>
                </a:solidFill>
                <a:uFillTx/>
              </a:rPr>
              <a:t>需要采取有效</a:t>
            </a:r>
            <a:r>
              <a:rPr lang="zh-CN" altLang="en-US" sz="1000" kern="2400">
                <a:ln w="3175">
                  <a:noFill/>
                </a:ln>
                <a:solidFill>
                  <a:schemeClr val="tx1"/>
                </a:solidFill>
                <a:uFillTx/>
              </a:rPr>
              <a:t>对冲策略减少</a:t>
            </a:r>
            <a:r>
              <a:rPr lang="zh-CN" altLang="en-US" sz="1000" kern="2400">
                <a:ln w="3175">
                  <a:noFill/>
                </a:ln>
                <a:solidFill>
                  <a:schemeClr val="tx1"/>
                </a:solidFill>
                <a:uFillTx/>
              </a:rPr>
              <a:t>风险。</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税务不确定性：不同国家对数字货币的税务处理不同</a:t>
            </a:r>
            <a:r>
              <a:rPr lang="en-US" altLang="zh-CN" sz="1000" kern="2400">
                <a:ln w="3175">
                  <a:noFill/>
                </a:ln>
                <a:solidFill>
                  <a:schemeClr val="tx1"/>
                </a:solidFill>
                <a:uFillTx/>
              </a:rPr>
              <a:t>, </a:t>
            </a:r>
            <a:r>
              <a:rPr lang="zh-CN" altLang="en-US" sz="1000" kern="2400">
                <a:ln w="3175">
                  <a:noFill/>
                </a:ln>
                <a:solidFill>
                  <a:schemeClr val="tx1"/>
                </a:solidFill>
                <a:uFillTx/>
              </a:rPr>
              <a:t>增值税、所得税、可能导致税务合规</a:t>
            </a:r>
            <a:r>
              <a:rPr lang="zh-CN" altLang="en-US" sz="1000" kern="2400">
                <a:ln w="3175">
                  <a:noFill/>
                </a:ln>
                <a:solidFill>
                  <a:schemeClr val="tx1"/>
                </a:solidFill>
                <a:uFillTx/>
              </a:rPr>
              <a:t>风险。</a:t>
            </a:r>
            <a:endParaRPr lang="zh-CN" altLang="en-US" sz="1000" kern="2400">
              <a:ln w="3175">
                <a:noFill/>
              </a:ln>
              <a:solidFill>
                <a:schemeClr val="tx1"/>
              </a:solidFill>
              <a:uFillTx/>
            </a:endParaRPr>
          </a:p>
        </p:txBody>
      </p:sp>
      <p:sp>
        <p:nvSpPr>
          <p:cNvPr id="134" name="文本框 133"/>
          <p:cNvSpPr txBox="1"/>
          <p:nvPr/>
        </p:nvSpPr>
        <p:spPr>
          <a:xfrm>
            <a:off x="8532495" y="231203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HK </a:t>
            </a:r>
            <a:r>
              <a:rPr lang="zh-CN" altLang="en-US" sz="1000" kern="2400">
                <a:ln w="3175">
                  <a:noFill/>
                </a:ln>
                <a:solidFill>
                  <a:schemeClr val="tx1"/>
                </a:solidFill>
                <a:uFillTx/>
              </a:rPr>
              <a:t>税收规划</a:t>
            </a:r>
            <a:r>
              <a:rPr lang="en-US" altLang="zh-CN" sz="1000" kern="2400">
                <a:ln w="3175">
                  <a:noFill/>
                </a:ln>
                <a:solidFill>
                  <a:schemeClr val="tx1"/>
                </a:solidFill>
                <a:uFillTx/>
              </a:rPr>
              <a:t> </a:t>
            </a:r>
            <a:endParaRPr lang="zh-CN" altLang="en-US" sz="1000" kern="2400">
              <a:ln w="3175">
                <a:noFill/>
              </a:ln>
              <a:solidFill>
                <a:schemeClr val="tx1"/>
              </a:solidFill>
              <a:uFillTx/>
            </a:endParaRPr>
          </a:p>
        </p:txBody>
      </p:sp>
      <p:pic>
        <p:nvPicPr>
          <p:cNvPr id="138" name="图片 137" descr="圆圈完成"/>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38945" y="2667000"/>
            <a:ext cx="149860" cy="147955"/>
          </a:xfrm>
          <a:prstGeom prst="rect">
            <a:avLst/>
          </a:prstGeom>
        </p:spPr>
      </p:pic>
      <p:sp>
        <p:nvSpPr>
          <p:cNvPr id="2" name="文本框 1"/>
          <p:cNvSpPr txBox="1"/>
          <p:nvPr/>
        </p:nvSpPr>
        <p:spPr>
          <a:xfrm>
            <a:off x="194310" y="245110"/>
            <a:ext cx="7111365" cy="645160"/>
          </a:xfrm>
          <a:prstGeom prst="rect">
            <a:avLst/>
          </a:prstGeom>
          <a:noFill/>
        </p:spPr>
        <p:txBody>
          <a:bodyPr wrap="square" rtlCol="0">
            <a:spAutoFit/>
          </a:bodyPr>
          <a:p>
            <a:r>
              <a:rPr lang="en-US" altLang="zh-CN" b="1">
                <a:latin typeface="+mj-lt"/>
                <a:cs typeface="+mj-lt"/>
              </a:rPr>
              <a:t>Web3 Financial Management with Milestones:</a:t>
            </a:r>
            <a:br>
              <a:rPr lang="en-US" altLang="zh-CN" b="1">
                <a:latin typeface="+mj-lt"/>
                <a:cs typeface="+mj-lt"/>
              </a:rPr>
            </a:br>
            <a:r>
              <a:rPr lang="en-US" altLang="zh-CN" b="1">
                <a:latin typeface="+mj-lt"/>
                <a:cs typeface="+mj-lt"/>
              </a:rPr>
              <a:t>From Reporting to </a:t>
            </a:r>
            <a:r>
              <a:rPr lang="en-US" altLang="zh-CN" b="1">
                <a:latin typeface="+mj-lt"/>
                <a:cs typeface="+mj-lt"/>
              </a:rPr>
              <a:t>Future Growth</a:t>
            </a:r>
            <a:endParaRPr lang="en-US" altLang="zh-CN" b="1">
              <a:latin typeface="+mj-lt"/>
              <a:cs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21647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Financial Reporting</a:t>
            </a:r>
            <a:endParaRPr lang="en-US" altLang="zh-CN" sz="1400">
              <a:ln w="3175">
                <a:noFill/>
              </a:ln>
            </a:endParaRPr>
          </a:p>
        </p:txBody>
      </p:sp>
      <p:sp>
        <p:nvSpPr>
          <p:cNvPr id="14" name="文本框 13"/>
          <p:cNvSpPr txBox="1"/>
          <p:nvPr/>
        </p:nvSpPr>
        <p:spPr>
          <a:xfrm>
            <a:off x="534860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Procedures &amp; Policy</a:t>
            </a:r>
            <a:endParaRPr lang="en-US" altLang="zh-CN" sz="1400">
              <a:ln w="3175">
                <a:noFill/>
              </a:ln>
            </a:endParaRPr>
          </a:p>
        </p:txBody>
      </p:sp>
      <p:sp>
        <p:nvSpPr>
          <p:cNvPr id="15" name="文本框 14"/>
          <p:cNvSpPr txBox="1"/>
          <p:nvPr/>
        </p:nvSpPr>
        <p:spPr>
          <a:xfrm>
            <a:off x="69145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Compliance &amp; </a:t>
            </a:r>
            <a:r>
              <a:rPr lang="en-US" altLang="zh-CN" sz="1400">
                <a:ln w="3175">
                  <a:noFill/>
                </a:ln>
              </a:rPr>
              <a:t>Audit</a:t>
            </a:r>
            <a:endParaRPr lang="en-US" altLang="zh-CN" sz="1400">
              <a:ln w="3175">
                <a:noFill/>
              </a:ln>
            </a:endParaRPr>
          </a:p>
        </p:txBody>
      </p:sp>
      <p:sp>
        <p:nvSpPr>
          <p:cNvPr id="16" name="文本框 15"/>
          <p:cNvSpPr txBox="1"/>
          <p:nvPr/>
        </p:nvSpPr>
        <p:spPr>
          <a:xfrm>
            <a:off x="853249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Hedging &amp; Tax</a:t>
            </a:r>
            <a:endParaRPr lang="en-US" altLang="zh-CN" sz="1400">
              <a:ln w="3175">
                <a:noFill/>
              </a:ln>
            </a:endParaRPr>
          </a:p>
        </p:txBody>
      </p:sp>
      <p:sp>
        <p:nvSpPr>
          <p:cNvPr id="17" name="文本框 16"/>
          <p:cNvSpPr txBox="1"/>
          <p:nvPr/>
        </p:nvSpPr>
        <p:spPr>
          <a:xfrm>
            <a:off x="10081260"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Future</a:t>
            </a:r>
            <a:br>
              <a:rPr lang="en-US" altLang="zh-CN" sz="1400">
                <a:ln w="3175">
                  <a:noFill/>
                </a:ln>
              </a:rPr>
            </a:br>
            <a:r>
              <a:rPr lang="en-US" altLang="zh-CN" sz="1400">
                <a:ln w="3175">
                  <a:noFill/>
                </a:ln>
              </a:rPr>
              <a:t>Growth</a:t>
            </a:r>
            <a:endParaRPr lang="en-US" altLang="zh-CN" sz="1400">
              <a:ln w="3175">
                <a:noFill/>
              </a:ln>
            </a:endParaRPr>
          </a:p>
        </p:txBody>
      </p:sp>
      <p:grpSp>
        <p:nvGrpSpPr>
          <p:cNvPr id="42" name="组合 41"/>
          <p:cNvGrpSpPr/>
          <p:nvPr/>
        </p:nvGrpSpPr>
        <p:grpSpPr>
          <a:xfrm rot="0">
            <a:off x="7896225" y="508635"/>
            <a:ext cx="1590675" cy="306705"/>
            <a:chOff x="8621" y="6094"/>
            <a:chExt cx="2476" cy="483"/>
          </a:xfrm>
        </p:grpSpPr>
        <p:pic>
          <p:nvPicPr>
            <p:cNvPr id="28" name="图片 27"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21" y="6094"/>
              <a:ext cx="415" cy="415"/>
            </a:xfrm>
            <a:prstGeom prst="rect">
              <a:avLst/>
            </a:prstGeom>
          </p:spPr>
        </p:pic>
        <p:sp>
          <p:nvSpPr>
            <p:cNvPr id="35" name="文本框 34"/>
            <p:cNvSpPr txBox="1"/>
            <p:nvPr/>
          </p:nvSpPr>
          <p:spPr>
            <a:xfrm>
              <a:off x="9007" y="6095"/>
              <a:ext cx="2091" cy="483"/>
            </a:xfrm>
            <a:prstGeom prst="rect">
              <a:avLst/>
            </a:prstGeom>
            <a:noFill/>
          </p:spPr>
          <p:txBody>
            <a:bodyPr wrap="square" rtlCol="0">
              <a:spAutoFit/>
            </a:bodyPr>
            <a:p>
              <a:r>
                <a:rPr lang="en-US" altLang="zh-CN" sz="1400"/>
                <a:t>In Process</a:t>
              </a:r>
              <a:endParaRPr lang="en-US" altLang="zh-CN" sz="1400"/>
            </a:p>
          </p:txBody>
        </p:sp>
      </p:grpSp>
      <p:grpSp>
        <p:nvGrpSpPr>
          <p:cNvPr id="43" name="组合 42"/>
          <p:cNvGrpSpPr/>
          <p:nvPr/>
        </p:nvGrpSpPr>
        <p:grpSpPr>
          <a:xfrm rot="0">
            <a:off x="10271760" y="508635"/>
            <a:ext cx="1590675" cy="306070"/>
            <a:chOff x="10911" y="6040"/>
            <a:chExt cx="2522" cy="482"/>
          </a:xfrm>
        </p:grpSpPr>
        <p:pic>
          <p:nvPicPr>
            <p:cNvPr id="36" name="图片 35" descr="圆圈完成"/>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1" y="6094"/>
              <a:ext cx="415" cy="415"/>
            </a:xfrm>
            <a:prstGeom prst="rect">
              <a:avLst/>
            </a:prstGeom>
          </p:spPr>
        </p:pic>
        <p:sp>
          <p:nvSpPr>
            <p:cNvPr id="37" name="文本框 36"/>
            <p:cNvSpPr txBox="1"/>
            <p:nvPr/>
          </p:nvSpPr>
          <p:spPr>
            <a:xfrm>
              <a:off x="11343" y="6040"/>
              <a:ext cx="2091" cy="483"/>
            </a:xfrm>
            <a:prstGeom prst="rect">
              <a:avLst/>
            </a:prstGeom>
            <a:noFill/>
          </p:spPr>
          <p:txBody>
            <a:bodyPr wrap="square" rtlCol="0">
              <a:spAutoFit/>
            </a:bodyPr>
            <a:p>
              <a:r>
                <a:rPr lang="en-US" altLang="zh-CN" sz="1400"/>
                <a:t>Risk</a:t>
              </a:r>
              <a:endParaRPr lang="en-US" altLang="zh-CN" sz="1400"/>
            </a:p>
          </p:txBody>
        </p:sp>
      </p:grpSp>
      <p:grpSp>
        <p:nvGrpSpPr>
          <p:cNvPr id="46" name="组合 45"/>
          <p:cNvGrpSpPr/>
          <p:nvPr/>
        </p:nvGrpSpPr>
        <p:grpSpPr>
          <a:xfrm rot="0">
            <a:off x="8788400" y="85725"/>
            <a:ext cx="2062480" cy="313690"/>
            <a:chOff x="7085" y="6861"/>
            <a:chExt cx="3248" cy="494"/>
          </a:xfrm>
        </p:grpSpPr>
        <p:pic>
          <p:nvPicPr>
            <p:cNvPr id="29" name="图片 28"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85" y="6861"/>
              <a:ext cx="494" cy="494"/>
            </a:xfrm>
            <a:prstGeom prst="rect">
              <a:avLst/>
            </a:prstGeom>
          </p:spPr>
        </p:pic>
        <p:sp>
          <p:nvSpPr>
            <p:cNvPr id="39" name="文本框 38"/>
            <p:cNvSpPr txBox="1"/>
            <p:nvPr/>
          </p:nvSpPr>
          <p:spPr>
            <a:xfrm>
              <a:off x="7579" y="6872"/>
              <a:ext cx="2754" cy="483"/>
            </a:xfrm>
            <a:prstGeom prst="rect">
              <a:avLst/>
            </a:prstGeom>
            <a:noFill/>
          </p:spPr>
          <p:txBody>
            <a:bodyPr wrap="square" rtlCol="0">
              <a:spAutoFit/>
            </a:bodyPr>
            <a:p>
              <a:r>
                <a:rPr lang="en-US" altLang="zh-CN" sz="1400"/>
                <a:t>Submitted </a:t>
              </a:r>
              <a:r>
                <a:rPr lang="zh-CN" altLang="en-US" sz="1000"/>
                <a:t>跨部门</a:t>
              </a:r>
              <a:r>
                <a:rPr lang="en-US" altLang="zh-CN" sz="1000"/>
                <a:t> </a:t>
              </a:r>
              <a:endParaRPr lang="zh-CN" altLang="en-US" sz="1000"/>
            </a:p>
          </p:txBody>
        </p:sp>
      </p:grpSp>
      <p:grpSp>
        <p:nvGrpSpPr>
          <p:cNvPr id="45" name="组合 44"/>
          <p:cNvGrpSpPr/>
          <p:nvPr/>
        </p:nvGrpSpPr>
        <p:grpSpPr>
          <a:xfrm rot="0">
            <a:off x="9215755" y="508635"/>
            <a:ext cx="1583055" cy="306705"/>
            <a:chOff x="12871" y="6092"/>
            <a:chExt cx="2493" cy="483"/>
          </a:xfrm>
        </p:grpSpPr>
        <p:pic>
          <p:nvPicPr>
            <p:cNvPr id="31" name="图片 30" descr="圆圈完成"/>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71" y="6108"/>
              <a:ext cx="415" cy="415"/>
            </a:xfrm>
            <a:prstGeom prst="rect">
              <a:avLst/>
            </a:prstGeom>
          </p:spPr>
        </p:pic>
        <p:sp>
          <p:nvSpPr>
            <p:cNvPr id="40" name="文本框 39"/>
            <p:cNvSpPr txBox="1"/>
            <p:nvPr/>
          </p:nvSpPr>
          <p:spPr>
            <a:xfrm>
              <a:off x="13273" y="6092"/>
              <a:ext cx="2091" cy="483"/>
            </a:xfrm>
            <a:prstGeom prst="rect">
              <a:avLst/>
            </a:prstGeom>
            <a:noFill/>
          </p:spPr>
          <p:txBody>
            <a:bodyPr wrap="square" rtlCol="0">
              <a:spAutoFit/>
            </a:bodyPr>
            <a:p>
              <a:r>
                <a:rPr lang="en-US" altLang="zh-CN" sz="1400"/>
                <a:t>Urgent</a:t>
              </a:r>
              <a:endParaRPr lang="en-US" altLang="zh-CN" sz="1400"/>
            </a:p>
          </p:txBody>
        </p:sp>
      </p:grpSp>
      <p:grpSp>
        <p:nvGrpSpPr>
          <p:cNvPr id="41" name="组合 40"/>
          <p:cNvGrpSpPr/>
          <p:nvPr/>
        </p:nvGrpSpPr>
        <p:grpSpPr>
          <a:xfrm rot="0">
            <a:off x="7894955" y="92710"/>
            <a:ext cx="998220" cy="306705"/>
            <a:chOff x="7178" y="6069"/>
            <a:chExt cx="1572" cy="483"/>
          </a:xfrm>
        </p:grpSpPr>
        <p:sp>
          <p:nvSpPr>
            <p:cNvPr id="34" name="文本框 33"/>
            <p:cNvSpPr txBox="1"/>
            <p:nvPr/>
          </p:nvSpPr>
          <p:spPr>
            <a:xfrm>
              <a:off x="7579" y="6069"/>
              <a:ext cx="1171" cy="483"/>
            </a:xfrm>
            <a:prstGeom prst="rect">
              <a:avLst/>
            </a:prstGeom>
            <a:noFill/>
          </p:spPr>
          <p:txBody>
            <a:bodyPr wrap="square" rtlCol="0">
              <a:spAutoFit/>
            </a:bodyPr>
            <a:p>
              <a:r>
                <a:rPr lang="en-US" altLang="zh-CN" sz="1400"/>
                <a:t>Done</a:t>
              </a:r>
              <a:endParaRPr lang="en-US" altLang="zh-CN" sz="1400"/>
            </a:p>
          </p:txBody>
        </p:sp>
        <p:pic>
          <p:nvPicPr>
            <p:cNvPr id="27" name="图片 26" descr="完成"/>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78" y="6108"/>
              <a:ext cx="401" cy="401"/>
            </a:xfrm>
            <a:prstGeom prst="rect">
              <a:avLst/>
            </a:prstGeom>
          </p:spPr>
        </p:pic>
      </p:grpSp>
      <p:cxnSp>
        <p:nvCxnSpPr>
          <p:cNvPr id="51" name="直接连接符 50"/>
          <p:cNvCxnSpPr/>
          <p:nvPr/>
        </p:nvCxnSpPr>
        <p:spPr>
          <a:xfrm flipV="1">
            <a:off x="252095" y="175768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1" name="直接连接符 60"/>
          <p:cNvCxnSpPr/>
          <p:nvPr/>
        </p:nvCxnSpPr>
        <p:spPr>
          <a:xfrm flipV="1">
            <a:off x="318135" y="276987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72" name="文本框 71"/>
          <p:cNvSpPr txBox="1"/>
          <p:nvPr/>
        </p:nvSpPr>
        <p:spPr>
          <a:xfrm>
            <a:off x="334010" y="183324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Cost </a:t>
            </a:r>
            <a:endParaRPr lang="en-US" altLang="zh-CN" sz="1400">
              <a:ln w="3175">
                <a:noFill/>
              </a:ln>
            </a:endParaRPr>
          </a:p>
          <a:p>
            <a:pPr algn="l"/>
            <a:r>
              <a:rPr lang="en-US" altLang="zh-CN" sz="1400">
                <a:ln w="3175">
                  <a:noFill/>
                </a:ln>
              </a:rPr>
              <a:t>Management</a:t>
            </a:r>
            <a:endParaRPr lang="en-US" altLang="zh-CN" sz="1400">
              <a:ln w="3175">
                <a:noFill/>
              </a:ln>
            </a:endParaRPr>
          </a:p>
        </p:txBody>
      </p:sp>
      <p:sp>
        <p:nvSpPr>
          <p:cNvPr id="79" name="文本框 78"/>
          <p:cNvSpPr txBox="1"/>
          <p:nvPr/>
        </p:nvSpPr>
        <p:spPr>
          <a:xfrm>
            <a:off x="8532495" y="1798320"/>
            <a:ext cx="1475740" cy="98107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a:buSzPct val="100000"/>
              <a:buFont typeface="Arial" panose="020B0604020202020204" pitchFamily="34" charset="0"/>
              <a:buNone/>
            </a:pPr>
            <a:endParaRPr lang="zh-CN" altLang="en-US" sz="800" kern="2400">
              <a:ln w="3175">
                <a:noFill/>
              </a:ln>
              <a:solidFill>
                <a:schemeClr val="tx1"/>
              </a:solidFill>
              <a:uFillTx/>
            </a:endParaRPr>
          </a:p>
        </p:txBody>
      </p:sp>
      <p:sp>
        <p:nvSpPr>
          <p:cNvPr id="98" name="文本框 97"/>
          <p:cNvSpPr txBox="1"/>
          <p:nvPr/>
        </p:nvSpPr>
        <p:spPr>
          <a:xfrm>
            <a:off x="2164715" y="173355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R&amp;D Labor Costs &amp; Commission Disclosure Adj.</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p:txBody>
      </p:sp>
      <p:pic>
        <p:nvPicPr>
          <p:cNvPr id="99" name="图片 98"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3466465" y="2524125"/>
            <a:ext cx="144000" cy="144000"/>
          </a:xfrm>
          <a:prstGeom prst="rect">
            <a:avLst/>
          </a:prstGeom>
        </p:spPr>
      </p:pic>
      <p:sp>
        <p:nvSpPr>
          <p:cNvPr id="101" name="文本框 100"/>
          <p:cNvSpPr txBox="1"/>
          <p:nvPr/>
        </p:nvSpPr>
        <p:spPr>
          <a:xfrm>
            <a:off x="10081260" y="171767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latin typeface="+mj-ea"/>
                <a:ea typeface="+mj-ea"/>
              </a:rPr>
              <a:t>在高度竞争的数字货币领域保持竞争优势。</a:t>
            </a:r>
            <a:endParaRPr lang="en-US" altLang="zh-CN" sz="1000" kern="2400">
              <a:ln w="3175">
                <a:noFill/>
              </a:ln>
              <a:solidFill>
                <a:schemeClr val="tx1"/>
              </a:solidFill>
              <a:uFillTx/>
              <a:latin typeface="+mj-ea"/>
              <a:ea typeface="+mj-ea"/>
            </a:endParaRPr>
          </a:p>
        </p:txBody>
      </p:sp>
      <p:sp>
        <p:nvSpPr>
          <p:cNvPr id="102" name="文本框 101"/>
          <p:cNvSpPr txBox="1"/>
          <p:nvPr/>
        </p:nvSpPr>
        <p:spPr>
          <a:xfrm>
            <a:off x="5348605" y="173355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费用支付的及时性和准确性</a:t>
            </a:r>
            <a:endParaRPr lang="zh-CN" altLang="en-US" sz="1000" kern="2400">
              <a:ln w="3175">
                <a:noFill/>
              </a:ln>
              <a:solidFill>
                <a:schemeClr val="tx1"/>
              </a:solidFill>
              <a:uFillTx/>
            </a:endParaRPr>
          </a:p>
        </p:txBody>
      </p:sp>
      <p:pic>
        <p:nvPicPr>
          <p:cNvPr id="103" name="图片 102"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1165" y="1833245"/>
            <a:ext cx="223520" cy="223520"/>
          </a:xfrm>
          <a:prstGeom prst="rect">
            <a:avLst/>
          </a:prstGeom>
        </p:spPr>
      </p:pic>
      <p:pic>
        <p:nvPicPr>
          <p:cNvPr id="106" name="图片 105"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4422140" y="2129790"/>
            <a:ext cx="144000" cy="144000"/>
          </a:xfrm>
          <a:prstGeom prst="rect">
            <a:avLst/>
          </a:prstGeom>
        </p:spPr>
      </p:pic>
      <p:pic>
        <p:nvPicPr>
          <p:cNvPr id="107" name="图片 106" descr="完成"/>
          <p:cNvPicPr>
            <a:picLocks noChangeAspect="1"/>
          </p:cNvPicPr>
          <p:nvPr/>
        </p:nvPicPr>
        <p:blipFill>
          <a:blip r:embed="rId9">
            <a:extLst>
              <a:ext uri="{96DAC541-7B7A-43D3-8B79-37D633B846F1}">
                <asvg:svgBlip xmlns:asvg="http://schemas.microsoft.com/office/drawing/2016/SVG/main" r:embed="rId11"/>
              </a:ext>
            </a:extLst>
          </a:blip>
          <a:stretch>
            <a:fillRect/>
          </a:stretch>
        </p:blipFill>
        <p:spPr>
          <a:xfrm>
            <a:off x="5132705" y="2355215"/>
            <a:ext cx="144000" cy="144000"/>
          </a:xfrm>
          <a:prstGeom prst="rect">
            <a:avLst/>
          </a:prstGeom>
        </p:spPr>
      </p:pic>
      <p:sp>
        <p:nvSpPr>
          <p:cNvPr id="111" name="文本框 110"/>
          <p:cNvSpPr txBox="1"/>
          <p:nvPr/>
        </p:nvSpPr>
        <p:spPr>
          <a:xfrm>
            <a:off x="6914515" y="173355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会计科目调整后</a:t>
            </a:r>
            <a:r>
              <a:rPr lang="zh-CN" altLang="en-US" sz="1000" kern="2400">
                <a:ln w="3175">
                  <a:noFill/>
                </a:ln>
                <a:solidFill>
                  <a:schemeClr val="tx1"/>
                </a:solidFill>
                <a:uFillTx/>
              </a:rPr>
              <a:t>的报表</a:t>
            </a:r>
            <a:endParaRPr lang="zh-CN" altLang="en-US" sz="1000" kern="2400">
              <a:ln w="3175">
                <a:noFill/>
              </a:ln>
              <a:solidFill>
                <a:schemeClr val="tx1"/>
              </a:solidFill>
              <a:uFillTx/>
            </a:endParaRPr>
          </a:p>
        </p:txBody>
      </p:sp>
      <p:sp>
        <p:nvSpPr>
          <p:cNvPr id="114" name="文本框 113"/>
          <p:cNvSpPr txBox="1"/>
          <p:nvPr/>
        </p:nvSpPr>
        <p:spPr>
          <a:xfrm>
            <a:off x="8532495" y="173355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Global Crypto </a:t>
            </a:r>
            <a:r>
              <a:rPr lang="en-US" altLang="zh-CN" sz="1200" kern="2400">
                <a:ln w="3175">
                  <a:noFill/>
                </a:ln>
                <a:solidFill>
                  <a:schemeClr val="tx1"/>
                </a:solidFill>
                <a:uFillTx/>
              </a:rPr>
              <a:t>Tax Policies Follow Up</a:t>
            </a:r>
            <a:endParaRPr lang="en-US" altLang="zh-CN" sz="1200" kern="2400">
              <a:ln w="3175">
                <a:noFill/>
              </a:ln>
              <a:solidFill>
                <a:schemeClr val="tx1"/>
              </a:solidFill>
              <a:uFillTx/>
            </a:endParaRPr>
          </a:p>
        </p:txBody>
      </p:sp>
      <p:pic>
        <p:nvPicPr>
          <p:cNvPr id="115" name="图片 114" descr="圆圈完成"/>
          <p:cNvPicPr>
            <a:picLocks noChangeAspect="1"/>
          </p:cNvPicPr>
          <p:nvPr/>
        </p:nvPicPr>
        <p:blipFill>
          <a:blip r:embed="rId7">
            <a:extLst>
              <a:ext uri="{96DAC541-7B7A-43D3-8B79-37D633B846F1}">
                <asvg:svgBlip xmlns:asvg="http://schemas.microsoft.com/office/drawing/2016/SVG/main" r:embed="rId12"/>
              </a:ext>
            </a:extLst>
          </a:blip>
          <a:stretch>
            <a:fillRect/>
          </a:stretch>
        </p:blipFill>
        <p:spPr>
          <a:xfrm>
            <a:off x="9529445" y="2308860"/>
            <a:ext cx="136525" cy="136525"/>
          </a:xfrm>
          <a:prstGeom prst="rect">
            <a:avLst/>
          </a:prstGeom>
        </p:spPr>
      </p:pic>
      <p:pic>
        <p:nvPicPr>
          <p:cNvPr id="116" name="图片 115"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96175" y="2089785"/>
            <a:ext cx="149860" cy="147955"/>
          </a:xfrm>
          <a:prstGeom prst="rect">
            <a:avLst/>
          </a:prstGeom>
        </p:spPr>
      </p:pic>
      <p:pic>
        <p:nvPicPr>
          <p:cNvPr id="118" name="图片 117"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08395" y="2125980"/>
            <a:ext cx="149860" cy="147955"/>
          </a:xfrm>
          <a:prstGeom prst="rect">
            <a:avLst/>
          </a:prstGeom>
        </p:spPr>
      </p:pic>
      <p:sp>
        <p:nvSpPr>
          <p:cNvPr id="135" name="文本框 134"/>
          <p:cNvSpPr txBox="1"/>
          <p:nvPr/>
        </p:nvSpPr>
        <p:spPr>
          <a:xfrm>
            <a:off x="7056755" y="39509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p:txBody>
      </p:sp>
      <p:sp>
        <p:nvSpPr>
          <p:cNvPr id="137" name="文本框 136"/>
          <p:cNvSpPr txBox="1"/>
          <p:nvPr/>
        </p:nvSpPr>
        <p:spPr>
          <a:xfrm>
            <a:off x="2184400" y="39509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p:txBody>
      </p:sp>
      <p:sp>
        <p:nvSpPr>
          <p:cNvPr id="13" name="文本框 12"/>
          <p:cNvSpPr txBox="1"/>
          <p:nvPr/>
        </p:nvSpPr>
        <p:spPr>
          <a:xfrm>
            <a:off x="3756660" y="1083310"/>
            <a:ext cx="147574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Business M</a:t>
            </a:r>
            <a:r>
              <a:rPr lang="en-US" altLang="zh-CN" sz="1400">
                <a:ln w="3175">
                  <a:noFill/>
                </a:ln>
              </a:rPr>
              <a:t>odels</a:t>
            </a:r>
            <a:endParaRPr lang="en-US" altLang="zh-CN" sz="1400">
              <a:ln w="3175">
                <a:noFill/>
              </a:ln>
            </a:endParaRPr>
          </a:p>
        </p:txBody>
      </p:sp>
      <p:sp>
        <p:nvSpPr>
          <p:cNvPr id="104" name="文本框 103"/>
          <p:cNvSpPr txBox="1"/>
          <p:nvPr/>
        </p:nvSpPr>
        <p:spPr>
          <a:xfrm>
            <a:off x="3756660" y="178308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WaaS Fee </a:t>
            </a:r>
            <a:r>
              <a:rPr lang="en-US" altLang="zh-CN" sz="1200" kern="2400">
                <a:ln w="3175">
                  <a:noFill/>
                </a:ln>
                <a:solidFill>
                  <a:schemeClr val="tx1"/>
                </a:solidFill>
                <a:uFillTx/>
              </a:rPr>
              <a:t>per </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r>
              <a:rPr lang="en-US" altLang="zh-CN" sz="1200" kern="2400">
                <a:ln w="3175">
                  <a:noFill/>
                </a:ln>
                <a:solidFill>
                  <a:schemeClr val="tx1"/>
                </a:solidFill>
                <a:uFillTx/>
              </a:rPr>
              <a:t>Order</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Cost </a:t>
            </a:r>
            <a:r>
              <a:rPr lang="en-US" altLang="zh-CN" sz="1200" kern="2400">
                <a:ln w="3175">
                  <a:noFill/>
                </a:ln>
                <a:solidFill>
                  <a:schemeClr val="tx1"/>
                </a:solidFill>
                <a:uFillTx/>
              </a:rPr>
              <a:t>allocation</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200" kern="2400">
              <a:ln w="3175">
                <a:noFill/>
              </a:ln>
              <a:solidFill>
                <a:schemeClr val="tx1"/>
              </a:solidFill>
              <a:uFillTx/>
            </a:endParaRPr>
          </a:p>
        </p:txBody>
      </p:sp>
      <p:sp>
        <p:nvSpPr>
          <p:cNvPr id="4" name="文本框 3"/>
          <p:cNvSpPr txBox="1"/>
          <p:nvPr/>
        </p:nvSpPr>
        <p:spPr>
          <a:xfrm>
            <a:off x="394970" y="305498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Challenges</a:t>
            </a:r>
            <a:endParaRPr lang="en-US" altLang="zh-CN" sz="1400">
              <a:ln w="3175">
                <a:noFill/>
              </a:ln>
            </a:endParaRPr>
          </a:p>
        </p:txBody>
      </p:sp>
      <p:sp>
        <p:nvSpPr>
          <p:cNvPr id="7" name="文本框 6"/>
          <p:cNvSpPr txBox="1"/>
          <p:nvPr/>
        </p:nvSpPr>
        <p:spPr>
          <a:xfrm>
            <a:off x="3778250" y="3054985"/>
            <a:ext cx="1454785"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成本效益分析</a:t>
            </a:r>
            <a:r>
              <a:rPr lang="en-US" altLang="zh-CN" sz="1000" kern="2400">
                <a:ln w="3175">
                  <a:noFill/>
                </a:ln>
                <a:solidFill>
                  <a:schemeClr val="tx1"/>
                </a:solidFill>
                <a:uFillTx/>
              </a:rPr>
              <a:t>: </a:t>
            </a:r>
            <a:r>
              <a:rPr lang="zh-CN" altLang="en-US" sz="1000" kern="2400">
                <a:ln w="3175">
                  <a:noFill/>
                </a:ln>
                <a:solidFill>
                  <a:schemeClr val="tx1"/>
                </a:solidFill>
                <a:uFillTx/>
              </a:rPr>
              <a:t>确保新业务、新产品、新区域、增加营收的同时</a:t>
            </a:r>
            <a:r>
              <a:rPr lang="en-US" altLang="zh-CN" sz="1000" kern="2400">
                <a:ln w="3175">
                  <a:noFill/>
                </a:ln>
                <a:solidFill>
                  <a:schemeClr val="tx1"/>
                </a:solidFill>
                <a:uFillTx/>
              </a:rPr>
              <a:t>, </a:t>
            </a:r>
            <a:r>
              <a:rPr lang="zh-CN" altLang="en-US" sz="1000" kern="2400">
                <a:ln w="3175">
                  <a:noFill/>
                </a:ln>
                <a:solidFill>
                  <a:schemeClr val="tx1"/>
                </a:solidFill>
                <a:uFillTx/>
              </a:rPr>
              <a:t>不会过渡增加运营成本</a:t>
            </a:r>
            <a:r>
              <a:rPr lang="en-US" altLang="zh-CN" sz="1000" kern="2400">
                <a:ln w="3175">
                  <a:noFill/>
                </a:ln>
                <a:solidFill>
                  <a:schemeClr val="tx1"/>
                </a:solidFill>
                <a:uFillTx/>
              </a:rPr>
              <a:t> ( </a:t>
            </a:r>
            <a:r>
              <a:rPr lang="zh-CN" altLang="en-US" sz="1000" kern="2400">
                <a:ln w="3175">
                  <a:noFill/>
                </a:ln>
                <a:solidFill>
                  <a:schemeClr val="tx1"/>
                </a:solidFill>
                <a:uFillTx/>
              </a:rPr>
              <a:t>不限于研发、渠道</a:t>
            </a:r>
            <a:r>
              <a:rPr lang="zh-CN" altLang="en-US" sz="1000" kern="2400">
                <a:ln w="3175">
                  <a:noFill/>
                </a:ln>
                <a:solidFill>
                  <a:schemeClr val="tx1"/>
                </a:solidFill>
                <a:uFillTx/>
              </a:rPr>
              <a:t>成本、营销成本</a:t>
            </a:r>
            <a:r>
              <a:rPr lang="en-US" altLang="zh-CN" sz="1000" kern="2400">
                <a:ln w="3175">
                  <a:noFill/>
                </a:ln>
                <a:solidFill>
                  <a:schemeClr val="tx1"/>
                </a:solidFill>
                <a:uFillTx/>
              </a:rPr>
              <a:t>)</a:t>
            </a:r>
            <a:r>
              <a:rPr lang="zh-CN" altLang="en-US" sz="1000" kern="2400">
                <a:ln w="3175">
                  <a:noFill/>
                </a:ln>
                <a:solidFill>
                  <a:schemeClr val="tx1"/>
                </a:solidFill>
                <a:uFillTx/>
              </a:rPr>
              <a:t>或投资回报</a:t>
            </a:r>
            <a:r>
              <a:rPr lang="zh-CN" altLang="en-US" sz="1000" kern="2400">
                <a:ln w="3175">
                  <a:noFill/>
                </a:ln>
                <a:solidFill>
                  <a:schemeClr val="tx1"/>
                </a:solidFill>
                <a:uFillTx/>
              </a:rPr>
              <a:t>周期。</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竞对分析</a:t>
            </a:r>
            <a:r>
              <a:rPr lang="en-US" altLang="zh-CN" sz="1000" kern="2400">
                <a:ln w="3175">
                  <a:noFill/>
                </a:ln>
                <a:solidFill>
                  <a:schemeClr val="tx1"/>
                </a:solidFill>
                <a:uFillTx/>
              </a:rPr>
              <a:t>: </a:t>
            </a:r>
            <a:r>
              <a:rPr lang="zh-CN" altLang="en-US" sz="1000" kern="2400">
                <a:ln w="3175">
                  <a:noFill/>
                </a:ln>
                <a:solidFill>
                  <a:schemeClr val="tx1"/>
                </a:solidFill>
                <a:uFillTx/>
              </a:rPr>
              <a:t>成本竞争，保持在行业里的竞争力。</a:t>
            </a:r>
            <a:r>
              <a:rPr lang="en-US" altLang="zh-CN" sz="1000" kern="2400">
                <a:ln w="3175">
                  <a:noFill/>
                </a:ln>
                <a:solidFill>
                  <a:schemeClr val="tx1"/>
                </a:solidFill>
                <a:uFillTx/>
              </a:rPr>
              <a:t>(</a:t>
            </a:r>
            <a:r>
              <a:rPr lang="zh-CN" altLang="en-US" sz="1000" kern="2400">
                <a:ln w="3175">
                  <a:noFill/>
                </a:ln>
                <a:solidFill>
                  <a:schemeClr val="tx1"/>
                </a:solidFill>
                <a:uFillTx/>
              </a:rPr>
              <a:t>原生全球化</a:t>
            </a:r>
            <a:r>
              <a:rPr lang="zh-CN" altLang="en-US" sz="1000" kern="2400">
                <a:ln w="3175">
                  <a:noFill/>
                </a:ln>
                <a:solidFill>
                  <a:schemeClr val="tx1"/>
                </a:solidFill>
                <a:uFillTx/>
              </a:rPr>
              <a:t>公司）</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p:txBody>
      </p:sp>
      <p:sp>
        <p:nvSpPr>
          <p:cNvPr id="8" name="文本框 7"/>
          <p:cNvSpPr txBox="1"/>
          <p:nvPr/>
        </p:nvSpPr>
        <p:spPr>
          <a:xfrm>
            <a:off x="5348605" y="3054985"/>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通过财务流程优化降低企业运营</a:t>
            </a:r>
            <a:r>
              <a:rPr lang="zh-CN" altLang="en-US" sz="1000" kern="2400">
                <a:ln w="3175">
                  <a:noFill/>
                </a:ln>
                <a:solidFill>
                  <a:schemeClr val="tx1"/>
                </a:solidFill>
                <a:uFillTx/>
              </a:rPr>
              <a:t>成本。</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自动化财务工单</a:t>
            </a:r>
            <a:r>
              <a:rPr lang="zh-CN" altLang="en-US" sz="1000" kern="2400">
                <a:ln w="3175">
                  <a:noFill/>
                </a:ln>
                <a:solidFill>
                  <a:schemeClr val="tx1"/>
                </a:solidFill>
                <a:uFillTx/>
              </a:rPr>
              <a:t>处理。</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标准化和流动简化</a:t>
            </a:r>
            <a:r>
              <a:rPr lang="en-US" altLang="zh-CN" sz="1000" kern="2400">
                <a:ln w="3175">
                  <a:noFill/>
                </a:ln>
                <a:solidFill>
                  <a:schemeClr val="tx1"/>
                </a:solidFill>
                <a:uFillTx/>
              </a:rPr>
              <a:t>: </a:t>
            </a:r>
            <a:r>
              <a:rPr lang="zh-CN" altLang="en-US" sz="1000" kern="2400">
                <a:ln w="3175">
                  <a:noFill/>
                </a:ln>
                <a:solidFill>
                  <a:schemeClr val="tx1"/>
                </a:solidFill>
                <a:uFillTx/>
              </a:rPr>
              <a:t>去除冗余步骤，确保流程高效顺畅</a:t>
            </a:r>
            <a:r>
              <a:rPr lang="en-US" altLang="zh-CN" sz="1000" kern="2400">
                <a:ln w="3175">
                  <a:noFill/>
                </a:ln>
                <a:solidFill>
                  <a:schemeClr val="tx1"/>
                </a:solidFill>
                <a:uFillTx/>
              </a:rPr>
              <a:t>, </a:t>
            </a:r>
            <a:r>
              <a:rPr lang="zh-CN" altLang="en-US" sz="1000" kern="2400">
                <a:ln w="3175">
                  <a:noFill/>
                </a:ln>
                <a:solidFill>
                  <a:schemeClr val="tx1"/>
                </a:solidFill>
                <a:uFillTx/>
              </a:rPr>
              <a:t>持续改进流程效率</a:t>
            </a:r>
            <a:r>
              <a:rPr lang="en-US" altLang="zh-CN" sz="1000" kern="2400">
                <a:ln w="3175">
                  <a:noFill/>
                </a:ln>
                <a:solidFill>
                  <a:schemeClr val="tx1"/>
                </a:solidFill>
                <a:uFillTx/>
              </a:rPr>
              <a:t>, </a:t>
            </a:r>
            <a:r>
              <a:rPr lang="zh-CN" altLang="en-US" sz="1000" kern="2400">
                <a:ln w="3175">
                  <a:noFill/>
                </a:ln>
                <a:solidFill>
                  <a:schemeClr val="tx1"/>
                </a:solidFill>
                <a:uFillTx/>
              </a:rPr>
              <a:t>形成培训</a:t>
            </a:r>
            <a:r>
              <a:rPr lang="zh-CN" altLang="en-US" sz="1000" kern="2400">
                <a:ln w="3175">
                  <a:noFill/>
                </a:ln>
                <a:solidFill>
                  <a:schemeClr val="tx1"/>
                </a:solidFill>
                <a:uFillTx/>
              </a:rPr>
              <a:t>材料。</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p:txBody>
      </p:sp>
      <p:sp>
        <p:nvSpPr>
          <p:cNvPr id="9" name="文本框 8"/>
          <p:cNvSpPr txBox="1"/>
          <p:nvPr/>
        </p:nvSpPr>
        <p:spPr>
          <a:xfrm>
            <a:off x="6914515" y="3054985"/>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文档记录、政策制定，需要持续人力、财力维护及第三方</a:t>
            </a:r>
            <a:r>
              <a:rPr lang="zh-CN" altLang="en-US" sz="1000" kern="2400">
                <a:ln w="3175">
                  <a:noFill/>
                </a:ln>
                <a:solidFill>
                  <a:schemeClr val="tx1"/>
                </a:solidFill>
                <a:uFillTx/>
              </a:rPr>
              <a:t>费用。</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金蝶</a:t>
            </a:r>
            <a:r>
              <a:rPr lang="en-US" altLang="zh-CN" sz="1000" kern="2400">
                <a:ln w="3175">
                  <a:noFill/>
                </a:ln>
                <a:solidFill>
                  <a:schemeClr val="tx1"/>
                </a:solidFill>
                <a:uFillTx/>
              </a:rPr>
              <a:t>+</a:t>
            </a:r>
            <a:r>
              <a:rPr lang="zh-CN" altLang="en-US" sz="1000" kern="2400">
                <a:ln w="3175">
                  <a:noFill/>
                </a:ln>
                <a:solidFill>
                  <a:schemeClr val="tx1"/>
                </a:solidFill>
                <a:uFillTx/>
              </a:rPr>
              <a:t>辅助工具</a:t>
            </a:r>
            <a:r>
              <a:rPr lang="en-US" altLang="zh-CN" sz="1000" kern="2400">
                <a:ln w="3175">
                  <a:noFill/>
                </a:ln>
                <a:solidFill>
                  <a:schemeClr val="tx1"/>
                </a:solidFill>
                <a:uFillTx/>
              </a:rPr>
              <a:t>: </a:t>
            </a:r>
            <a:r>
              <a:rPr lang="zh-CN" altLang="en-US" sz="1000" kern="2400">
                <a:ln w="3175">
                  <a:noFill/>
                </a:ln>
                <a:solidFill>
                  <a:schemeClr val="tx1"/>
                </a:solidFill>
                <a:uFillTx/>
              </a:rPr>
              <a:t>调整会计科目涉及到</a:t>
            </a:r>
            <a:r>
              <a:rPr lang="en-US" altLang="zh-CN" sz="1000" kern="2400">
                <a:ln w="3175">
                  <a:noFill/>
                </a:ln>
                <a:solidFill>
                  <a:schemeClr val="tx1"/>
                </a:solidFill>
                <a:uFillTx/>
              </a:rPr>
              <a:t>ERP</a:t>
            </a:r>
            <a:r>
              <a:rPr lang="zh-CN" altLang="en-US" sz="1000" kern="2400">
                <a:ln w="3175">
                  <a:noFill/>
                </a:ln>
                <a:solidFill>
                  <a:schemeClr val="tx1"/>
                </a:solidFill>
                <a:uFillTx/>
              </a:rPr>
              <a:t>系统、财务软件的配置</a:t>
            </a:r>
            <a:r>
              <a:rPr lang="en-US" altLang="zh-CN" sz="1000" kern="2400">
                <a:ln w="3175">
                  <a:noFill/>
                </a:ln>
                <a:solidFill>
                  <a:schemeClr val="tx1"/>
                </a:solidFill>
                <a:uFillTx/>
              </a:rPr>
              <a:t>, </a:t>
            </a:r>
            <a:r>
              <a:rPr lang="zh-CN" altLang="en-US" sz="1000" kern="2400">
                <a:ln w="3175">
                  <a:noFill/>
                </a:ln>
                <a:solidFill>
                  <a:schemeClr val="tx1"/>
                </a:solidFill>
                <a:uFillTx/>
              </a:rPr>
              <a:t>确保新的科目设置与现有系统能够兼容</a:t>
            </a:r>
            <a:r>
              <a:rPr lang="en-US" altLang="zh-CN" sz="1000" kern="2400">
                <a:ln w="3175">
                  <a:noFill/>
                </a:ln>
                <a:solidFill>
                  <a:schemeClr val="tx1"/>
                </a:solidFill>
                <a:uFillTx/>
              </a:rPr>
              <a:t>, </a:t>
            </a:r>
            <a:r>
              <a:rPr lang="zh-CN" altLang="en-US" sz="1000" kern="2400">
                <a:ln w="3175">
                  <a:noFill/>
                </a:ln>
                <a:solidFill>
                  <a:schemeClr val="tx1"/>
                </a:solidFill>
                <a:uFillTx/>
              </a:rPr>
              <a:t>避免过渡</a:t>
            </a:r>
            <a:r>
              <a:rPr lang="zh-CN" altLang="en-US" sz="1000" kern="2400">
                <a:ln w="3175">
                  <a:noFill/>
                </a:ln>
                <a:solidFill>
                  <a:schemeClr val="tx1"/>
                </a:solidFill>
                <a:uFillTx/>
              </a:rPr>
              <a:t>设计。</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一致性、连贯性及</a:t>
            </a:r>
            <a:r>
              <a:rPr lang="zh-CN" altLang="en-US" sz="1000" kern="2400">
                <a:ln w="3175">
                  <a:noFill/>
                </a:ln>
                <a:solidFill>
                  <a:schemeClr val="tx1"/>
                </a:solidFill>
                <a:uFillTx/>
              </a:rPr>
              <a:t>培训。</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p:txBody>
      </p:sp>
      <p:sp>
        <p:nvSpPr>
          <p:cNvPr id="10" name="文本框 9"/>
          <p:cNvSpPr txBox="1"/>
          <p:nvPr/>
        </p:nvSpPr>
        <p:spPr>
          <a:xfrm>
            <a:off x="8532495" y="3054985"/>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跨国经营的数字货币支付公司需要面对不同国家的税收政策，</a:t>
            </a:r>
            <a:r>
              <a:rPr lang="zh-CN" altLang="en-US" sz="1000" kern="2400">
                <a:ln w="3175">
                  <a:noFill/>
                </a:ln>
                <a:solidFill>
                  <a:schemeClr val="tx1"/>
                </a:solidFill>
                <a:uFillTx/>
              </a:rPr>
              <a:t>避免导致高额罚款或税务成本。</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全球税务</a:t>
            </a:r>
            <a:r>
              <a:rPr lang="zh-CN" altLang="en-US" sz="1000" kern="2400">
                <a:ln w="3175">
                  <a:noFill/>
                </a:ln>
                <a:solidFill>
                  <a:schemeClr val="tx1"/>
                </a:solidFill>
                <a:uFillTx/>
              </a:rPr>
              <a:t>合规</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税务筹划与风险管理</a:t>
            </a:r>
            <a:r>
              <a:rPr lang="en-US" altLang="zh-CN" sz="1000" kern="2400">
                <a:ln w="3175">
                  <a:noFill/>
                </a:ln>
                <a:solidFill>
                  <a:schemeClr val="tx1"/>
                </a:solidFill>
                <a:uFillTx/>
              </a:rPr>
              <a:t>, </a:t>
            </a:r>
            <a:r>
              <a:rPr lang="zh-CN" altLang="en-US" sz="1000" kern="2400">
                <a:ln w="3175">
                  <a:noFill/>
                </a:ln>
                <a:solidFill>
                  <a:schemeClr val="tx1"/>
                </a:solidFill>
                <a:uFillTx/>
              </a:rPr>
              <a:t>确保所有筹划行为合法经得起税务机关的</a:t>
            </a:r>
            <a:r>
              <a:rPr lang="zh-CN" altLang="en-US" sz="1000" kern="2400">
                <a:ln w="3175">
                  <a:noFill/>
                </a:ln>
                <a:solidFill>
                  <a:schemeClr val="tx1"/>
                </a:solidFill>
                <a:uFillTx/>
              </a:rPr>
              <a:t>审查。</a:t>
            </a:r>
            <a:endParaRPr lang="zh-CN" altLang="en-US" sz="1000" kern="2400">
              <a:ln w="3175">
                <a:noFill/>
              </a:ln>
              <a:solidFill>
                <a:schemeClr val="tx1"/>
              </a:solidFill>
              <a:uFillTx/>
            </a:endParaRPr>
          </a:p>
        </p:txBody>
      </p:sp>
      <p:sp>
        <p:nvSpPr>
          <p:cNvPr id="3" name="文本框 2"/>
          <p:cNvSpPr txBox="1"/>
          <p:nvPr/>
        </p:nvSpPr>
        <p:spPr>
          <a:xfrm>
            <a:off x="2286000" y="3054985"/>
            <a:ext cx="1354455"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uFillTx/>
                <a:sym typeface="+mn-ea"/>
              </a:rPr>
              <a:t>确保成本被正确归集至相应的产品或业务线</a:t>
            </a:r>
            <a:r>
              <a:rPr lang="en-US" altLang="zh-CN" sz="1000" kern="2400">
                <a:ln w="3175">
                  <a:noFill/>
                </a:ln>
                <a:uFillTx/>
                <a:sym typeface="+mn-ea"/>
              </a:rPr>
              <a:t>, </a:t>
            </a:r>
            <a:r>
              <a:rPr lang="zh-CN" altLang="en-US" sz="1000" kern="2400">
                <a:ln w="3175">
                  <a:noFill/>
                </a:ln>
                <a:uFillTx/>
                <a:sym typeface="+mn-ea"/>
              </a:rPr>
              <a:t>对管理层评估业绩、制定决策起到</a:t>
            </a:r>
            <a:r>
              <a:rPr lang="zh-CN" altLang="en-US" sz="1000" kern="2400">
                <a:ln w="3175">
                  <a:noFill/>
                </a:ln>
                <a:uFillTx/>
                <a:sym typeface="+mn-ea"/>
              </a:rPr>
              <a:t>作用。</a:t>
            </a:r>
            <a:endParaRPr lang="zh-CN" altLang="en-US" sz="1000" kern="2400">
              <a:ln w="3175">
                <a:noFill/>
              </a:ln>
              <a:uFillTx/>
              <a:sym typeface="+mn-ea"/>
            </a:endParaRPr>
          </a:p>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优化资源配置</a:t>
            </a:r>
            <a:r>
              <a:rPr lang="en-US" altLang="zh-CN" sz="1000" kern="2400">
                <a:ln w="3175">
                  <a:noFill/>
                </a:ln>
                <a:solidFill>
                  <a:schemeClr val="tx1"/>
                </a:solidFill>
                <a:uFillTx/>
              </a:rPr>
              <a:t>: </a:t>
            </a:r>
            <a:r>
              <a:rPr lang="zh-CN" altLang="en-US" sz="1000" kern="2400">
                <a:ln w="3175">
                  <a:noFill/>
                </a:ln>
                <a:solidFill>
                  <a:schemeClr val="tx1"/>
                </a:solidFill>
                <a:uFillTx/>
              </a:rPr>
              <a:t>识别不同业务线的成本效率</a:t>
            </a:r>
            <a:r>
              <a:rPr lang="en-US" altLang="zh-CN" sz="1000" kern="2400">
                <a:ln w="3175">
                  <a:noFill/>
                </a:ln>
                <a:solidFill>
                  <a:schemeClr val="tx1"/>
                </a:solidFill>
                <a:uFillTx/>
              </a:rPr>
              <a:t>, </a:t>
            </a:r>
            <a:r>
              <a:rPr lang="zh-CN" altLang="en-US" sz="1000" kern="2400">
                <a:ln w="3175">
                  <a:noFill/>
                </a:ln>
                <a:solidFill>
                  <a:schemeClr val="tx1"/>
                </a:solidFill>
                <a:uFillTx/>
              </a:rPr>
              <a:t>促进资源有效配置。</a:t>
            </a: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p:txBody>
      </p:sp>
      <p:sp>
        <p:nvSpPr>
          <p:cNvPr id="2" name="左大括号 1"/>
          <p:cNvSpPr/>
          <p:nvPr/>
        </p:nvSpPr>
        <p:spPr>
          <a:xfrm rot="5400000">
            <a:off x="3759200" y="1719580"/>
            <a:ext cx="197485" cy="2525395"/>
          </a:xfrm>
          <a:prstGeom prst="leftBrace">
            <a:avLst>
              <a:gd name="adj1" fmla="val 8333"/>
              <a:gd name="adj2" fmla="val 50414"/>
            </a:avLst>
          </a:prstGeom>
          <a:noFill/>
          <a:ln>
            <a:solidFill>
              <a:schemeClr val="tx1">
                <a:lumMod val="50000"/>
                <a:lumOff val="50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左大括号 11"/>
          <p:cNvSpPr/>
          <p:nvPr/>
        </p:nvSpPr>
        <p:spPr>
          <a:xfrm rot="5400000">
            <a:off x="7593330" y="982345"/>
            <a:ext cx="172720" cy="3972560"/>
          </a:xfrm>
          <a:prstGeom prst="leftBrace">
            <a:avLst>
              <a:gd name="adj1" fmla="val 8333"/>
              <a:gd name="adj2" fmla="val 50414"/>
            </a:avLst>
          </a:prstGeom>
          <a:noFill/>
          <a:ln>
            <a:solidFill>
              <a:schemeClr val="tx1">
                <a:lumMod val="50000"/>
                <a:lumOff val="50000"/>
              </a:schemeClr>
            </a:solidFill>
          </a:ln>
          <a:extLst>
            <a:ext uri="{909E8E84-426E-40DD-AFC4-6F175D3DCCD1}">
              <a14:hiddenFill xmlns:a14="http://schemas.microsoft.com/office/drawing/2010/main">
                <a:solidFill>
                  <a:schemeClr val="bg1">
                    <a:lumMod val="95000"/>
                  </a:schemeClr>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文本框 5"/>
          <p:cNvSpPr txBox="1"/>
          <p:nvPr/>
        </p:nvSpPr>
        <p:spPr>
          <a:xfrm>
            <a:off x="194310" y="245110"/>
            <a:ext cx="7111365" cy="645160"/>
          </a:xfrm>
          <a:prstGeom prst="rect">
            <a:avLst/>
          </a:prstGeom>
          <a:noFill/>
        </p:spPr>
        <p:txBody>
          <a:bodyPr wrap="square" rtlCol="0">
            <a:spAutoFit/>
          </a:bodyPr>
          <a:p>
            <a:r>
              <a:rPr lang="en-US" altLang="zh-CN" b="1">
                <a:latin typeface="+mj-lt"/>
                <a:cs typeface="+mj-lt"/>
              </a:rPr>
              <a:t>Web3 Financial Management with Milestones:</a:t>
            </a:r>
            <a:br>
              <a:rPr lang="en-US" altLang="zh-CN" b="1">
                <a:latin typeface="+mj-lt"/>
                <a:cs typeface="+mj-lt"/>
              </a:rPr>
            </a:br>
            <a:r>
              <a:rPr lang="en-US" altLang="zh-CN" b="1">
                <a:latin typeface="+mj-lt"/>
                <a:cs typeface="+mj-lt"/>
              </a:rPr>
              <a:t>From Reporting to </a:t>
            </a:r>
            <a:r>
              <a:rPr lang="en-US" altLang="zh-CN" b="1">
                <a:latin typeface="+mj-lt"/>
                <a:cs typeface="+mj-lt"/>
              </a:rPr>
              <a:t>Future Growth</a:t>
            </a:r>
            <a:endParaRPr lang="en-US" altLang="zh-CN" b="1">
              <a:latin typeface="+mj-lt"/>
              <a:cs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文本框 10"/>
          <p:cNvSpPr txBox="1"/>
          <p:nvPr/>
        </p:nvSpPr>
        <p:spPr>
          <a:xfrm>
            <a:off x="21647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Financial Reporting</a:t>
            </a:r>
            <a:endParaRPr lang="en-US" altLang="zh-CN" sz="1400">
              <a:ln w="3175">
                <a:noFill/>
              </a:ln>
            </a:endParaRPr>
          </a:p>
        </p:txBody>
      </p:sp>
      <p:sp>
        <p:nvSpPr>
          <p:cNvPr id="14" name="文本框 13"/>
          <p:cNvSpPr txBox="1"/>
          <p:nvPr/>
        </p:nvSpPr>
        <p:spPr>
          <a:xfrm>
            <a:off x="534860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Procedures &amp; Policy</a:t>
            </a:r>
            <a:endParaRPr lang="en-US" altLang="zh-CN" sz="1400">
              <a:ln w="3175">
                <a:noFill/>
              </a:ln>
            </a:endParaRPr>
          </a:p>
        </p:txBody>
      </p:sp>
      <p:sp>
        <p:nvSpPr>
          <p:cNvPr id="15" name="文本框 14"/>
          <p:cNvSpPr txBox="1"/>
          <p:nvPr/>
        </p:nvSpPr>
        <p:spPr>
          <a:xfrm>
            <a:off x="691451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Compliance &amp; </a:t>
            </a:r>
            <a:r>
              <a:rPr lang="en-US" altLang="zh-CN" sz="1400">
                <a:ln w="3175">
                  <a:noFill/>
                </a:ln>
              </a:rPr>
              <a:t>Audit</a:t>
            </a:r>
            <a:endParaRPr lang="en-US" altLang="zh-CN" sz="1400">
              <a:ln w="3175">
                <a:noFill/>
              </a:ln>
            </a:endParaRPr>
          </a:p>
        </p:txBody>
      </p:sp>
      <p:sp>
        <p:nvSpPr>
          <p:cNvPr id="16" name="文本框 15"/>
          <p:cNvSpPr txBox="1"/>
          <p:nvPr/>
        </p:nvSpPr>
        <p:spPr>
          <a:xfrm>
            <a:off x="8532495"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Hedging &amp; Tax</a:t>
            </a:r>
            <a:endParaRPr lang="en-US" altLang="zh-CN" sz="1400">
              <a:ln w="3175">
                <a:noFill/>
              </a:ln>
            </a:endParaRPr>
          </a:p>
        </p:txBody>
      </p:sp>
      <p:sp>
        <p:nvSpPr>
          <p:cNvPr id="17" name="文本框 16"/>
          <p:cNvSpPr txBox="1"/>
          <p:nvPr/>
        </p:nvSpPr>
        <p:spPr>
          <a:xfrm>
            <a:off x="10081260" y="1083310"/>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Future</a:t>
            </a:r>
            <a:br>
              <a:rPr lang="en-US" altLang="zh-CN" sz="1400">
                <a:ln w="3175">
                  <a:noFill/>
                </a:ln>
              </a:rPr>
            </a:br>
            <a:r>
              <a:rPr lang="en-US" altLang="zh-CN" sz="1400">
                <a:ln w="3175">
                  <a:noFill/>
                </a:ln>
              </a:rPr>
              <a:t>Growth</a:t>
            </a:r>
            <a:endParaRPr lang="en-US" altLang="zh-CN" sz="1400">
              <a:ln w="3175">
                <a:noFill/>
              </a:ln>
            </a:endParaRPr>
          </a:p>
        </p:txBody>
      </p:sp>
      <p:grpSp>
        <p:nvGrpSpPr>
          <p:cNvPr id="42" name="组合 41"/>
          <p:cNvGrpSpPr/>
          <p:nvPr/>
        </p:nvGrpSpPr>
        <p:grpSpPr>
          <a:xfrm rot="0">
            <a:off x="7896225" y="508635"/>
            <a:ext cx="1590675" cy="306705"/>
            <a:chOff x="8621" y="6094"/>
            <a:chExt cx="2476" cy="483"/>
          </a:xfrm>
        </p:grpSpPr>
        <p:pic>
          <p:nvPicPr>
            <p:cNvPr id="28" name="图片 27"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21" y="6094"/>
              <a:ext cx="415" cy="415"/>
            </a:xfrm>
            <a:prstGeom prst="rect">
              <a:avLst/>
            </a:prstGeom>
          </p:spPr>
        </p:pic>
        <p:sp>
          <p:nvSpPr>
            <p:cNvPr id="35" name="文本框 34"/>
            <p:cNvSpPr txBox="1"/>
            <p:nvPr/>
          </p:nvSpPr>
          <p:spPr>
            <a:xfrm>
              <a:off x="9007" y="6095"/>
              <a:ext cx="2091" cy="483"/>
            </a:xfrm>
            <a:prstGeom prst="rect">
              <a:avLst/>
            </a:prstGeom>
            <a:noFill/>
          </p:spPr>
          <p:txBody>
            <a:bodyPr wrap="square" rtlCol="0">
              <a:spAutoFit/>
            </a:bodyPr>
            <a:p>
              <a:r>
                <a:rPr lang="en-US" altLang="zh-CN" sz="1400"/>
                <a:t>In Process</a:t>
              </a:r>
              <a:endParaRPr lang="en-US" altLang="zh-CN" sz="1400"/>
            </a:p>
          </p:txBody>
        </p:sp>
      </p:grpSp>
      <p:grpSp>
        <p:nvGrpSpPr>
          <p:cNvPr id="43" name="组合 42"/>
          <p:cNvGrpSpPr/>
          <p:nvPr/>
        </p:nvGrpSpPr>
        <p:grpSpPr>
          <a:xfrm rot="0">
            <a:off x="10271760" y="508635"/>
            <a:ext cx="1590675" cy="306070"/>
            <a:chOff x="10911" y="6040"/>
            <a:chExt cx="2522" cy="482"/>
          </a:xfrm>
        </p:grpSpPr>
        <p:pic>
          <p:nvPicPr>
            <p:cNvPr id="36" name="图片 35" descr="圆圈完成"/>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1" y="6094"/>
              <a:ext cx="415" cy="415"/>
            </a:xfrm>
            <a:prstGeom prst="rect">
              <a:avLst/>
            </a:prstGeom>
          </p:spPr>
        </p:pic>
        <p:sp>
          <p:nvSpPr>
            <p:cNvPr id="37" name="文本框 36"/>
            <p:cNvSpPr txBox="1"/>
            <p:nvPr/>
          </p:nvSpPr>
          <p:spPr>
            <a:xfrm>
              <a:off x="11343" y="6040"/>
              <a:ext cx="2091" cy="483"/>
            </a:xfrm>
            <a:prstGeom prst="rect">
              <a:avLst/>
            </a:prstGeom>
            <a:noFill/>
          </p:spPr>
          <p:txBody>
            <a:bodyPr wrap="square" rtlCol="0">
              <a:spAutoFit/>
            </a:bodyPr>
            <a:p>
              <a:r>
                <a:rPr lang="en-US" altLang="zh-CN" sz="1400"/>
                <a:t>Risk</a:t>
              </a:r>
              <a:endParaRPr lang="en-US" altLang="zh-CN" sz="1400"/>
            </a:p>
          </p:txBody>
        </p:sp>
      </p:grpSp>
      <p:grpSp>
        <p:nvGrpSpPr>
          <p:cNvPr id="46" name="组合 45"/>
          <p:cNvGrpSpPr/>
          <p:nvPr/>
        </p:nvGrpSpPr>
        <p:grpSpPr>
          <a:xfrm rot="0">
            <a:off x="8788400" y="85725"/>
            <a:ext cx="2062480" cy="313690"/>
            <a:chOff x="7085" y="6861"/>
            <a:chExt cx="3248" cy="494"/>
          </a:xfrm>
        </p:grpSpPr>
        <p:pic>
          <p:nvPicPr>
            <p:cNvPr id="29" name="图片 28"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85" y="6861"/>
              <a:ext cx="494" cy="494"/>
            </a:xfrm>
            <a:prstGeom prst="rect">
              <a:avLst/>
            </a:prstGeom>
          </p:spPr>
        </p:pic>
        <p:sp>
          <p:nvSpPr>
            <p:cNvPr id="39" name="文本框 38"/>
            <p:cNvSpPr txBox="1"/>
            <p:nvPr/>
          </p:nvSpPr>
          <p:spPr>
            <a:xfrm>
              <a:off x="7579" y="6872"/>
              <a:ext cx="2754" cy="483"/>
            </a:xfrm>
            <a:prstGeom prst="rect">
              <a:avLst/>
            </a:prstGeom>
            <a:noFill/>
          </p:spPr>
          <p:txBody>
            <a:bodyPr wrap="square" rtlCol="0">
              <a:spAutoFit/>
            </a:bodyPr>
            <a:p>
              <a:r>
                <a:rPr lang="en-US" altLang="zh-CN" sz="1400"/>
                <a:t>Submitted </a:t>
              </a:r>
              <a:r>
                <a:rPr lang="zh-CN" altLang="en-US" sz="1000"/>
                <a:t>跨部门</a:t>
              </a:r>
              <a:r>
                <a:rPr lang="en-US" altLang="zh-CN" sz="1000"/>
                <a:t> </a:t>
              </a:r>
              <a:endParaRPr lang="zh-CN" altLang="en-US" sz="1000"/>
            </a:p>
          </p:txBody>
        </p:sp>
      </p:grpSp>
      <p:grpSp>
        <p:nvGrpSpPr>
          <p:cNvPr id="45" name="组合 44"/>
          <p:cNvGrpSpPr/>
          <p:nvPr/>
        </p:nvGrpSpPr>
        <p:grpSpPr>
          <a:xfrm rot="0">
            <a:off x="9215755" y="508635"/>
            <a:ext cx="1583055" cy="306705"/>
            <a:chOff x="12871" y="6092"/>
            <a:chExt cx="2493" cy="483"/>
          </a:xfrm>
        </p:grpSpPr>
        <p:pic>
          <p:nvPicPr>
            <p:cNvPr id="31" name="图片 30" descr="圆圈完成"/>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71" y="6108"/>
              <a:ext cx="415" cy="415"/>
            </a:xfrm>
            <a:prstGeom prst="rect">
              <a:avLst/>
            </a:prstGeom>
          </p:spPr>
        </p:pic>
        <p:sp>
          <p:nvSpPr>
            <p:cNvPr id="40" name="文本框 39"/>
            <p:cNvSpPr txBox="1"/>
            <p:nvPr/>
          </p:nvSpPr>
          <p:spPr>
            <a:xfrm>
              <a:off x="13273" y="6092"/>
              <a:ext cx="2091" cy="483"/>
            </a:xfrm>
            <a:prstGeom prst="rect">
              <a:avLst/>
            </a:prstGeom>
            <a:noFill/>
          </p:spPr>
          <p:txBody>
            <a:bodyPr wrap="square" rtlCol="0">
              <a:spAutoFit/>
            </a:bodyPr>
            <a:p>
              <a:r>
                <a:rPr lang="en-US" altLang="zh-CN" sz="1400"/>
                <a:t>Urgent</a:t>
              </a:r>
              <a:endParaRPr lang="en-US" altLang="zh-CN" sz="1400"/>
            </a:p>
          </p:txBody>
        </p:sp>
      </p:grpSp>
      <p:grpSp>
        <p:nvGrpSpPr>
          <p:cNvPr id="41" name="组合 40"/>
          <p:cNvGrpSpPr/>
          <p:nvPr/>
        </p:nvGrpSpPr>
        <p:grpSpPr>
          <a:xfrm rot="0">
            <a:off x="7894955" y="92710"/>
            <a:ext cx="998220" cy="306705"/>
            <a:chOff x="7178" y="6069"/>
            <a:chExt cx="1572" cy="483"/>
          </a:xfrm>
        </p:grpSpPr>
        <p:sp>
          <p:nvSpPr>
            <p:cNvPr id="34" name="文本框 33"/>
            <p:cNvSpPr txBox="1"/>
            <p:nvPr/>
          </p:nvSpPr>
          <p:spPr>
            <a:xfrm>
              <a:off x="7579" y="6069"/>
              <a:ext cx="1171" cy="483"/>
            </a:xfrm>
            <a:prstGeom prst="rect">
              <a:avLst/>
            </a:prstGeom>
            <a:noFill/>
          </p:spPr>
          <p:txBody>
            <a:bodyPr wrap="square" rtlCol="0">
              <a:spAutoFit/>
            </a:bodyPr>
            <a:p>
              <a:r>
                <a:rPr lang="en-US" altLang="zh-CN" sz="1400"/>
                <a:t>Done</a:t>
              </a:r>
              <a:endParaRPr lang="en-US" altLang="zh-CN" sz="1400"/>
            </a:p>
          </p:txBody>
        </p:sp>
        <p:pic>
          <p:nvPicPr>
            <p:cNvPr id="27" name="图片 26" descr="完成"/>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78" y="6108"/>
              <a:ext cx="401" cy="401"/>
            </a:xfrm>
            <a:prstGeom prst="rect">
              <a:avLst/>
            </a:prstGeom>
          </p:spPr>
        </p:pic>
      </p:grpSp>
      <p:cxnSp>
        <p:nvCxnSpPr>
          <p:cNvPr id="51" name="直接连接符 50"/>
          <p:cNvCxnSpPr/>
          <p:nvPr/>
        </p:nvCxnSpPr>
        <p:spPr>
          <a:xfrm flipV="1">
            <a:off x="252095" y="175768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3" name="直接连接符 62"/>
          <p:cNvCxnSpPr/>
          <p:nvPr/>
        </p:nvCxnSpPr>
        <p:spPr>
          <a:xfrm flipV="1">
            <a:off x="383540" y="679704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73" name="文本框 72"/>
          <p:cNvSpPr txBox="1"/>
          <p:nvPr/>
        </p:nvSpPr>
        <p:spPr>
          <a:xfrm>
            <a:off x="334010" y="1821180"/>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Crypto &amp; Fiat </a:t>
            </a:r>
            <a:endParaRPr lang="en-US" altLang="zh-CN" sz="1400">
              <a:ln w="3175">
                <a:noFill/>
              </a:ln>
            </a:endParaRPr>
          </a:p>
          <a:p>
            <a:pPr algn="l"/>
            <a:r>
              <a:rPr lang="en-US" altLang="zh-CN" sz="1400">
                <a:ln w="3175">
                  <a:noFill/>
                </a:ln>
              </a:rPr>
              <a:t>Flow</a:t>
            </a:r>
            <a:endParaRPr lang="en-US" altLang="zh-CN" sz="1400">
              <a:ln w="3175">
                <a:noFill/>
              </a:ln>
            </a:endParaRPr>
          </a:p>
        </p:txBody>
      </p:sp>
      <p:sp>
        <p:nvSpPr>
          <p:cNvPr id="74" name="文本框 73"/>
          <p:cNvSpPr txBox="1"/>
          <p:nvPr/>
        </p:nvSpPr>
        <p:spPr>
          <a:xfrm>
            <a:off x="383540" y="271335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Working Capital</a:t>
            </a:r>
            <a:endParaRPr lang="en-US" altLang="zh-CN" sz="1400">
              <a:ln w="3175">
                <a:noFill/>
              </a:ln>
            </a:endParaRPr>
          </a:p>
        </p:txBody>
      </p:sp>
      <p:sp>
        <p:nvSpPr>
          <p:cNvPr id="79" name="文本框 78"/>
          <p:cNvSpPr txBox="1"/>
          <p:nvPr/>
        </p:nvSpPr>
        <p:spPr>
          <a:xfrm>
            <a:off x="8532495" y="1798320"/>
            <a:ext cx="1475740" cy="98107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a:buSzPct val="100000"/>
              <a:buFont typeface="Arial" panose="020B0604020202020204" pitchFamily="34" charset="0"/>
              <a:buNone/>
            </a:pPr>
            <a:endParaRPr lang="zh-CN" altLang="en-US" sz="800" kern="2400">
              <a:ln w="3175">
                <a:noFill/>
              </a:ln>
              <a:solidFill>
                <a:schemeClr val="tx1"/>
              </a:solidFill>
              <a:uFillTx/>
            </a:endParaRPr>
          </a:p>
        </p:txBody>
      </p:sp>
      <p:sp>
        <p:nvSpPr>
          <p:cNvPr id="108" name="文本框 107"/>
          <p:cNvSpPr txBox="1"/>
          <p:nvPr/>
        </p:nvSpPr>
        <p:spPr>
          <a:xfrm>
            <a:off x="5348605" y="182118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T+1 </a:t>
            </a:r>
            <a:r>
              <a:rPr lang="zh-CN" altLang="en-US" sz="1000" kern="2400">
                <a:ln w="3175">
                  <a:noFill/>
                </a:ln>
                <a:solidFill>
                  <a:schemeClr val="tx1"/>
                </a:solidFill>
                <a:uFillTx/>
              </a:rPr>
              <a:t>商家结算保障</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p:txBody>
      </p:sp>
      <p:pic>
        <p:nvPicPr>
          <p:cNvPr id="110" name="图片 109" descr="同步完成"/>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08775" y="1906270"/>
            <a:ext cx="223520" cy="223520"/>
          </a:xfrm>
          <a:prstGeom prst="rect">
            <a:avLst/>
          </a:prstGeom>
        </p:spPr>
      </p:pic>
      <p:sp>
        <p:nvSpPr>
          <p:cNvPr id="120" name="文本框 119"/>
          <p:cNvSpPr txBox="1"/>
          <p:nvPr/>
        </p:nvSpPr>
        <p:spPr>
          <a:xfrm>
            <a:off x="10081260" y="179959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优化应收账款、应付账款环节，加速资金周转</a:t>
            </a:r>
            <a:r>
              <a:rPr lang="en-US" altLang="zh-CN" sz="1000" kern="2400">
                <a:ln w="3175">
                  <a:noFill/>
                </a:ln>
                <a:solidFill>
                  <a:schemeClr val="tx1"/>
                </a:solidFill>
                <a:uFillTx/>
              </a:rPr>
              <a:t>, </a:t>
            </a:r>
            <a:r>
              <a:rPr lang="zh-CN" altLang="en-US" sz="1000" kern="2400">
                <a:ln w="3175">
                  <a:noFill/>
                </a:ln>
                <a:solidFill>
                  <a:schemeClr val="tx1"/>
                </a:solidFill>
                <a:uFillTx/>
              </a:rPr>
              <a:t>为应对数币市场波动和抓住给予充足和灵活的资金储备。</a:t>
            </a:r>
            <a:endParaRPr lang="en-US" altLang="zh-CN" sz="1000" kern="2400">
              <a:ln w="3175">
                <a:noFill/>
              </a:ln>
              <a:solidFill>
                <a:schemeClr val="tx1"/>
              </a:solidFill>
              <a:uFillTx/>
            </a:endParaRPr>
          </a:p>
        </p:txBody>
      </p:sp>
      <p:sp>
        <p:nvSpPr>
          <p:cNvPr id="133" name="文本框 132"/>
          <p:cNvSpPr txBox="1"/>
          <p:nvPr/>
        </p:nvSpPr>
        <p:spPr>
          <a:xfrm>
            <a:off x="2184400" y="19062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p:txBody>
      </p:sp>
      <p:sp>
        <p:nvSpPr>
          <p:cNvPr id="135" name="文本框 134"/>
          <p:cNvSpPr txBox="1"/>
          <p:nvPr/>
        </p:nvSpPr>
        <p:spPr>
          <a:xfrm>
            <a:off x="7056755" y="182118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p:txBody>
      </p:sp>
      <p:sp>
        <p:nvSpPr>
          <p:cNvPr id="137" name="文本框 136"/>
          <p:cNvSpPr txBox="1"/>
          <p:nvPr/>
        </p:nvSpPr>
        <p:spPr>
          <a:xfrm>
            <a:off x="2184400" y="182118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p:txBody>
      </p:sp>
      <p:sp>
        <p:nvSpPr>
          <p:cNvPr id="139" name="文本框 138"/>
          <p:cNvSpPr txBox="1"/>
          <p:nvPr/>
        </p:nvSpPr>
        <p:spPr>
          <a:xfrm>
            <a:off x="3872865" y="19062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200" kern="2400">
              <a:ln w="3175">
                <a:noFill/>
              </a:ln>
              <a:solidFill>
                <a:schemeClr val="tx1"/>
              </a:solidFill>
              <a:uFillTx/>
            </a:endParaRPr>
          </a:p>
        </p:txBody>
      </p:sp>
      <p:sp>
        <p:nvSpPr>
          <p:cNvPr id="141" name="文本框 140"/>
          <p:cNvSpPr txBox="1"/>
          <p:nvPr/>
        </p:nvSpPr>
        <p:spPr>
          <a:xfrm>
            <a:off x="8532495" y="182118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Crypto Assets Fair Value</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FX Gain or Loss </a:t>
            </a:r>
            <a:endParaRPr lang="en-US" altLang="zh-CN" sz="1200" kern="2400">
              <a:ln w="3175">
                <a:noFill/>
              </a:ln>
              <a:solidFill>
                <a:schemeClr val="tx1"/>
              </a:solidFill>
              <a:uFillTx/>
            </a:endParaRPr>
          </a:p>
        </p:txBody>
      </p:sp>
      <p:pic>
        <p:nvPicPr>
          <p:cNvPr id="142" name="图片 141" descr="圆圈完成"/>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9537700" y="2162810"/>
            <a:ext cx="136525" cy="136525"/>
          </a:xfrm>
          <a:prstGeom prst="rect">
            <a:avLst/>
          </a:prstGeom>
        </p:spPr>
      </p:pic>
      <p:pic>
        <p:nvPicPr>
          <p:cNvPr id="143" name="图片 142" descr="圆圈完成"/>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9975215" y="2393950"/>
            <a:ext cx="136525" cy="136525"/>
          </a:xfrm>
          <a:prstGeom prst="rect">
            <a:avLst/>
          </a:prstGeom>
        </p:spPr>
      </p:pic>
      <p:cxnSp>
        <p:nvCxnSpPr>
          <p:cNvPr id="144" name="直接连接符 143"/>
          <p:cNvCxnSpPr/>
          <p:nvPr/>
        </p:nvCxnSpPr>
        <p:spPr>
          <a:xfrm flipV="1">
            <a:off x="436880" y="3384550"/>
            <a:ext cx="16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3756660" y="1083310"/>
            <a:ext cx="147574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Business M</a:t>
            </a:r>
            <a:r>
              <a:rPr lang="en-US" altLang="zh-CN" sz="1400">
                <a:ln w="3175">
                  <a:noFill/>
                </a:ln>
              </a:rPr>
              <a:t>odels</a:t>
            </a:r>
            <a:endParaRPr lang="en-US" altLang="zh-CN" sz="1400">
              <a:ln w="3175">
                <a:noFill/>
              </a:ln>
            </a:endParaRPr>
          </a:p>
        </p:txBody>
      </p:sp>
      <p:sp>
        <p:nvSpPr>
          <p:cNvPr id="145" name="文本框 144"/>
          <p:cNvSpPr txBox="1"/>
          <p:nvPr/>
        </p:nvSpPr>
        <p:spPr>
          <a:xfrm>
            <a:off x="3756660" y="1783715"/>
            <a:ext cx="1863725" cy="168783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WaaS AR </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r>
              <a:rPr lang="en-US" altLang="zh-CN" sz="1200" kern="2400">
                <a:ln w="3175">
                  <a:noFill/>
                </a:ln>
                <a:solidFill>
                  <a:schemeClr val="tx1"/>
                </a:solidFill>
                <a:uFillTx/>
              </a:rPr>
              <a:t>Turnover</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AR Management</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AR Collection</a:t>
            </a:r>
            <a:endParaRPr lang="en-US" altLang="zh-CN" sz="1200" kern="2400">
              <a:ln w="3175">
                <a:noFill/>
              </a:ln>
              <a:solidFill>
                <a:schemeClr val="tx1"/>
              </a:solidFill>
              <a:uFillTx/>
            </a:endParaRPr>
          </a:p>
        </p:txBody>
      </p:sp>
      <p:cxnSp>
        <p:nvCxnSpPr>
          <p:cNvPr id="146" name="直接连接符 145"/>
          <p:cNvCxnSpPr/>
          <p:nvPr/>
        </p:nvCxnSpPr>
        <p:spPr>
          <a:xfrm>
            <a:off x="5543550" y="3448685"/>
            <a:ext cx="4608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pic>
        <p:nvPicPr>
          <p:cNvPr id="148" name="图片 147" descr="完成"/>
          <p:cNvPicPr>
            <a:picLocks noChangeAspect="1"/>
          </p:cNvPicPr>
          <p:nvPr/>
        </p:nvPicPr>
        <p:blipFill>
          <a:blip r:embed="rId9">
            <a:extLst>
              <a:ext uri="{96DAC541-7B7A-43D3-8B79-37D633B846F1}">
                <asvg:svgBlip xmlns:asvg="http://schemas.microsoft.com/office/drawing/2016/SVG/main" r:embed="rId12"/>
              </a:ext>
            </a:extLst>
          </a:blip>
          <a:stretch>
            <a:fillRect/>
          </a:stretch>
        </p:blipFill>
        <p:spPr>
          <a:xfrm>
            <a:off x="4591050" y="2129790"/>
            <a:ext cx="144000" cy="144000"/>
          </a:xfrm>
          <a:prstGeom prst="rect">
            <a:avLst/>
          </a:prstGeom>
        </p:spPr>
      </p:pic>
      <p:pic>
        <p:nvPicPr>
          <p:cNvPr id="149" name="图片 148" descr="完成"/>
          <p:cNvPicPr>
            <a:picLocks noChangeAspect="1"/>
          </p:cNvPicPr>
          <p:nvPr/>
        </p:nvPicPr>
        <p:blipFill>
          <a:blip r:embed="rId9">
            <a:extLst>
              <a:ext uri="{96DAC541-7B7A-43D3-8B79-37D633B846F1}">
                <asvg:svgBlip xmlns:asvg="http://schemas.microsoft.com/office/drawing/2016/SVG/main" r:embed="rId12"/>
              </a:ext>
            </a:extLst>
          </a:blip>
          <a:stretch>
            <a:fillRect/>
          </a:stretch>
        </p:blipFill>
        <p:spPr>
          <a:xfrm>
            <a:off x="5204460" y="2353310"/>
            <a:ext cx="144000" cy="144000"/>
          </a:xfrm>
          <a:prstGeom prst="rect">
            <a:avLst/>
          </a:prstGeom>
        </p:spPr>
      </p:pic>
      <p:pic>
        <p:nvPicPr>
          <p:cNvPr id="151" name="图片 150"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54600" y="2565400"/>
            <a:ext cx="149860" cy="147955"/>
          </a:xfrm>
          <a:prstGeom prst="rect">
            <a:avLst/>
          </a:prstGeom>
        </p:spPr>
      </p:pic>
      <p:sp>
        <p:nvSpPr>
          <p:cNvPr id="158" name="文本框 157"/>
          <p:cNvSpPr txBox="1"/>
          <p:nvPr/>
        </p:nvSpPr>
        <p:spPr>
          <a:xfrm>
            <a:off x="2164715" y="1821180"/>
            <a:ext cx="1863725" cy="168783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Bad Debt Write-Off</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AR Collection Accuracy</a:t>
            </a:r>
            <a:r>
              <a:rPr lang="zh-CN" altLang="en-US" sz="1000" kern="2400">
                <a:ln w="3175">
                  <a:noFill/>
                </a:ln>
                <a:solidFill>
                  <a:schemeClr val="tx1"/>
                </a:solidFill>
                <a:uFillTx/>
              </a:rPr>
              <a:t>对账</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周资金计划表</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200" kern="2400">
              <a:ln w="3175">
                <a:noFill/>
              </a:ln>
              <a:solidFill>
                <a:schemeClr val="tx1"/>
              </a:solidFill>
              <a:uFillTx/>
            </a:endParaRPr>
          </a:p>
        </p:txBody>
      </p:sp>
      <p:sp>
        <p:nvSpPr>
          <p:cNvPr id="159" name="文本框 158"/>
          <p:cNvSpPr txBox="1"/>
          <p:nvPr/>
        </p:nvSpPr>
        <p:spPr>
          <a:xfrm>
            <a:off x="7056755" y="1848485"/>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p:txBody>
      </p:sp>
      <p:sp>
        <p:nvSpPr>
          <p:cNvPr id="160" name="文本框 159"/>
          <p:cNvSpPr txBox="1"/>
          <p:nvPr/>
        </p:nvSpPr>
        <p:spPr>
          <a:xfrm>
            <a:off x="6914515" y="1831975"/>
            <a:ext cx="1863725" cy="168783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Reserve (1:1) Fund</a:t>
            </a:r>
            <a:br>
              <a:rPr lang="en-US" altLang="zh-CN" sz="1200" kern="2400">
                <a:ln w="3175">
                  <a:noFill/>
                </a:ln>
                <a:solidFill>
                  <a:schemeClr val="tx1"/>
                </a:solidFill>
                <a:uFillTx/>
              </a:rPr>
            </a:br>
            <a:r>
              <a:rPr lang="zh-CN" altLang="en-US" sz="1000" kern="2400">
                <a:ln w="3175">
                  <a:noFill/>
                </a:ln>
                <a:solidFill>
                  <a:schemeClr val="tx1"/>
                </a:solidFill>
                <a:uFillTx/>
              </a:rPr>
              <a:t>储备金监控</a:t>
            </a:r>
            <a:endParaRPr lang="en-US" altLang="zh-CN"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200" kern="2400">
              <a:ln w="3175">
                <a:noFill/>
              </a:ln>
              <a:solidFill>
                <a:schemeClr val="tx1"/>
              </a:solidFill>
              <a:uFillTx/>
            </a:endParaRPr>
          </a:p>
        </p:txBody>
      </p:sp>
      <p:pic>
        <p:nvPicPr>
          <p:cNvPr id="161" name="图片 160"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862570" y="2179320"/>
            <a:ext cx="149860" cy="147955"/>
          </a:xfrm>
          <a:prstGeom prst="rect">
            <a:avLst/>
          </a:prstGeom>
        </p:spPr>
      </p:pic>
      <p:pic>
        <p:nvPicPr>
          <p:cNvPr id="164" name="图片 163" descr="完成"/>
          <p:cNvPicPr>
            <a:picLocks noChangeAspect="1"/>
          </p:cNvPicPr>
          <p:nvPr/>
        </p:nvPicPr>
        <p:blipFill>
          <a:blip r:embed="rId9">
            <a:extLst>
              <a:ext uri="{96DAC541-7B7A-43D3-8B79-37D633B846F1}">
                <asvg:svgBlip xmlns:asvg="http://schemas.microsoft.com/office/drawing/2016/SVG/main" r:embed="rId12"/>
              </a:ext>
            </a:extLst>
          </a:blip>
          <a:stretch>
            <a:fillRect/>
          </a:stretch>
        </p:blipFill>
        <p:spPr>
          <a:xfrm>
            <a:off x="2415540" y="2129790"/>
            <a:ext cx="144000" cy="144000"/>
          </a:xfrm>
          <a:prstGeom prst="rect">
            <a:avLst/>
          </a:prstGeom>
        </p:spPr>
      </p:pic>
      <p:pic>
        <p:nvPicPr>
          <p:cNvPr id="166" name="图片 165"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17570" y="2613025"/>
            <a:ext cx="149860" cy="147955"/>
          </a:xfrm>
          <a:prstGeom prst="rect">
            <a:avLst/>
          </a:prstGeom>
        </p:spPr>
      </p:pic>
      <p:pic>
        <p:nvPicPr>
          <p:cNvPr id="2" name="图片 1" descr="圆圈完成"/>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20745" y="2839085"/>
            <a:ext cx="149860" cy="147955"/>
          </a:xfrm>
          <a:prstGeom prst="rect">
            <a:avLst/>
          </a:prstGeom>
        </p:spPr>
      </p:pic>
      <p:sp>
        <p:nvSpPr>
          <p:cNvPr id="4" name="文本框 3"/>
          <p:cNvSpPr txBox="1"/>
          <p:nvPr/>
        </p:nvSpPr>
        <p:spPr>
          <a:xfrm>
            <a:off x="414655" y="3684270"/>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Challenges</a:t>
            </a:r>
            <a:endParaRPr lang="en-US" altLang="zh-CN" sz="1400">
              <a:ln w="3175">
                <a:noFill/>
              </a:ln>
            </a:endParaRPr>
          </a:p>
        </p:txBody>
      </p:sp>
      <p:sp>
        <p:nvSpPr>
          <p:cNvPr id="6" name="文本框 5"/>
          <p:cNvSpPr txBox="1"/>
          <p:nvPr/>
        </p:nvSpPr>
        <p:spPr>
          <a:xfrm>
            <a:off x="2184400" y="3407410"/>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a:p>
            <a:pPr marL="228600" indent="-22860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设置定期评估数字货币价值的政策</a:t>
            </a:r>
            <a:r>
              <a:rPr lang="en-US" altLang="zh-CN" sz="1000" kern="2400">
                <a:ln w="3175">
                  <a:noFill/>
                </a:ln>
                <a:solidFill>
                  <a:schemeClr val="tx1"/>
                </a:solidFill>
                <a:uFillTx/>
              </a:rPr>
              <a:t>, </a:t>
            </a:r>
            <a:r>
              <a:rPr lang="zh-CN" altLang="en-US" sz="1000" kern="2400">
                <a:ln w="3175">
                  <a:noFill/>
                </a:ln>
                <a:solidFill>
                  <a:schemeClr val="tx1"/>
                </a:solidFill>
                <a:uFillTx/>
              </a:rPr>
              <a:t>特别是在处理非稳定币时。</a:t>
            </a:r>
            <a:endParaRPr lang="zh-CN" altLang="en-US" sz="1000" kern="2400">
              <a:ln w="3175">
                <a:noFill/>
              </a:ln>
              <a:solidFill>
                <a:schemeClr val="tx1"/>
              </a:solidFill>
              <a:uFillTx/>
            </a:endParaRPr>
          </a:p>
          <a:p>
            <a:pPr marL="228600" indent="-228600" algn="l" fontAlgn="auto">
              <a:lnSpc>
                <a:spcPts val="1800"/>
              </a:lnSpc>
              <a:buSzPct val="100000"/>
              <a:buFont typeface="Arial" panose="020B0604020202020204" pitchFamily="34" charset="0"/>
              <a:buChar char="•"/>
            </a:pPr>
            <a:endParaRPr lang="en-US" altLang="zh-CN" sz="1000" kern="2400">
              <a:ln w="3175">
                <a:noFill/>
              </a:ln>
              <a:solidFill>
                <a:schemeClr val="tx1"/>
              </a:solidFill>
              <a:uFillTx/>
            </a:endParaRPr>
          </a:p>
          <a:p>
            <a:pPr marL="228600" indent="-22860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财务报告中充分披露持有数字货币相关的风险、政策、持有量、交易和估值</a:t>
            </a:r>
            <a:r>
              <a:rPr lang="zh-CN" altLang="en-US" sz="1000" kern="2400">
                <a:ln w="3175">
                  <a:noFill/>
                </a:ln>
                <a:solidFill>
                  <a:schemeClr val="tx1"/>
                </a:solidFill>
                <a:uFillTx/>
              </a:rPr>
              <a:t>方法。</a:t>
            </a:r>
            <a:endParaRPr lang="zh-CN" altLang="en-US" sz="1000" kern="2400">
              <a:ln w="3175">
                <a:noFill/>
              </a:ln>
              <a:solidFill>
                <a:schemeClr val="tx1"/>
              </a:solidFill>
              <a:uFillTx/>
            </a:endParaRPr>
          </a:p>
        </p:txBody>
      </p:sp>
      <p:sp>
        <p:nvSpPr>
          <p:cNvPr id="7" name="文本框 6"/>
          <p:cNvSpPr txBox="1"/>
          <p:nvPr/>
        </p:nvSpPr>
        <p:spPr>
          <a:xfrm>
            <a:off x="3776345" y="3605530"/>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资金流效率：设计高效的资金调度制度和垫资策略，以应对更快速的资金流转周期。</a:t>
            </a:r>
            <a:r>
              <a:rPr lang="en-US" altLang="zh-CN" sz="1000" kern="2400">
                <a:ln w="3175">
                  <a:noFill/>
                </a:ln>
                <a:solidFill>
                  <a:schemeClr val="tx1"/>
                </a:solidFill>
                <a:uFillTx/>
              </a:rPr>
              <a:t>(</a:t>
            </a:r>
            <a:r>
              <a:rPr lang="zh-CN" altLang="en-US" sz="1000" kern="2400">
                <a:ln w="3175">
                  <a:noFill/>
                </a:ln>
                <a:solidFill>
                  <a:schemeClr val="tx1"/>
                </a:solidFill>
                <a:uFillTx/>
              </a:rPr>
              <a:t>文档</a:t>
            </a:r>
            <a:r>
              <a:rPr lang="en-US" altLang="zh-CN" sz="1000" kern="2400">
                <a:ln w="3175">
                  <a:noFill/>
                </a:ln>
                <a:solidFill>
                  <a:schemeClr val="tx1"/>
                </a:solidFill>
                <a:uFillTx/>
              </a:rPr>
              <a:t>)</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收入与成本在不同货币间准确匹配，避免汇率波动的利润</a:t>
            </a:r>
            <a:r>
              <a:rPr lang="zh-CN" altLang="en-US" sz="1000" kern="2400">
                <a:ln w="3175">
                  <a:noFill/>
                </a:ln>
                <a:solidFill>
                  <a:schemeClr val="tx1"/>
                </a:solidFill>
                <a:uFillTx/>
              </a:rPr>
              <a:t>错配。</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营运资本需求预测及关键指标</a:t>
            </a:r>
            <a:r>
              <a:rPr lang="zh-CN" altLang="en-US" sz="1000" kern="2400">
                <a:ln w="3175">
                  <a:noFill/>
                </a:ln>
                <a:solidFill>
                  <a:schemeClr val="tx1"/>
                </a:solidFill>
                <a:uFillTx/>
              </a:rPr>
              <a:t>管理。</a:t>
            </a:r>
            <a:br>
              <a:rPr lang="zh-CN" altLang="en-US" sz="1000" kern="2400">
                <a:ln w="3175">
                  <a:noFill/>
                </a:ln>
                <a:solidFill>
                  <a:schemeClr val="tx1"/>
                </a:solidFill>
                <a:uFillTx/>
              </a:rPr>
            </a:br>
            <a:endParaRPr lang="zh-CN" altLang="en-US" sz="1000" kern="2400">
              <a:ln w="3175">
                <a:noFill/>
              </a:ln>
              <a:solidFill>
                <a:schemeClr val="tx1"/>
              </a:solidFill>
              <a:uFillTx/>
            </a:endParaRPr>
          </a:p>
        </p:txBody>
      </p:sp>
      <p:sp>
        <p:nvSpPr>
          <p:cNvPr id="22" name="文本框 21"/>
          <p:cNvSpPr txBox="1"/>
          <p:nvPr/>
        </p:nvSpPr>
        <p:spPr>
          <a:xfrm>
            <a:off x="8532495" y="3384550"/>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fontAlgn="auto">
              <a:lnSpc>
                <a:spcPts val="1800"/>
              </a:lnSpc>
              <a:buSzPct val="100000"/>
              <a:buFont typeface="Arial" panose="020B0604020202020204" pitchFamily="34" charset="0"/>
              <a:buNone/>
            </a:pPr>
            <a:endParaRPr lang="en-US" altLang="zh-CN"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确保汇率数据的准确性</a:t>
            </a:r>
            <a:r>
              <a:rPr lang="en-US" altLang="zh-CN" sz="1000" kern="2400">
                <a:ln w="3175">
                  <a:noFill/>
                </a:ln>
                <a:solidFill>
                  <a:schemeClr val="tx1"/>
                </a:solidFill>
                <a:uFillTx/>
              </a:rPr>
              <a:t>, </a:t>
            </a:r>
            <a:r>
              <a:rPr lang="zh-CN" altLang="en-US" sz="1000" kern="2400">
                <a:ln w="3175">
                  <a:noFill/>
                </a:ln>
                <a:solidFill>
                  <a:schemeClr val="tx1"/>
                </a:solidFill>
                <a:uFillTx/>
              </a:rPr>
              <a:t>用于计算跨币种交易的</a:t>
            </a:r>
            <a:r>
              <a:rPr lang="zh-CN" altLang="en-US" sz="1000" kern="2400">
                <a:ln w="3175">
                  <a:noFill/>
                </a:ln>
                <a:solidFill>
                  <a:schemeClr val="tx1"/>
                </a:solidFill>
                <a:uFillTx/>
              </a:rPr>
              <a:t>价值。</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多币种资金财务</a:t>
            </a:r>
            <a:r>
              <a:rPr lang="zh-CN" altLang="en-US" sz="1000" kern="2400">
                <a:ln w="3175">
                  <a:noFill/>
                </a:ln>
                <a:solidFill>
                  <a:schemeClr val="tx1"/>
                </a:solidFill>
                <a:uFillTx/>
              </a:rPr>
              <a:t>规划</a:t>
            </a:r>
            <a:endParaRPr lang="zh-CN" altLang="en-US" sz="1000" kern="2400">
              <a:ln w="3175">
                <a:noFill/>
              </a:ln>
              <a:solidFill>
                <a:schemeClr val="tx1"/>
              </a:solidFill>
              <a:uFillTx/>
            </a:endParaRPr>
          </a:p>
        </p:txBody>
      </p:sp>
      <p:sp>
        <p:nvSpPr>
          <p:cNvPr id="23" name="文本框 22"/>
          <p:cNvSpPr txBox="1"/>
          <p:nvPr/>
        </p:nvSpPr>
        <p:spPr>
          <a:xfrm>
            <a:off x="5348605" y="3605530"/>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T+1</a:t>
            </a:r>
            <a:r>
              <a:rPr lang="zh-CN" altLang="en-US" sz="1000" kern="2400">
                <a:ln w="3175">
                  <a:noFill/>
                </a:ln>
                <a:solidFill>
                  <a:schemeClr val="tx1"/>
                </a:solidFill>
                <a:uFillTx/>
              </a:rPr>
              <a:t>计算：满足客户支付需求的同时，有效管理时间差带来的</a:t>
            </a:r>
            <a:r>
              <a:rPr lang="zh-CN" altLang="en-US" sz="1000" kern="2400">
                <a:ln w="3175">
                  <a:noFill/>
                </a:ln>
                <a:solidFill>
                  <a:schemeClr val="tx1"/>
                </a:solidFill>
                <a:uFillTx/>
              </a:rPr>
              <a:t>流动性风险。</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uFillTx/>
                <a:sym typeface="+mn-ea"/>
              </a:rPr>
              <a:t>数字货币存储和安全措施：多重签名钱包和冷钱包。</a:t>
            </a:r>
            <a:endParaRPr lang="zh-CN" altLang="en-US" sz="1000" kern="2400">
              <a:ln w="3175">
                <a:noFill/>
              </a:ln>
              <a:uFillTx/>
              <a:sym typeface="+mn-ea"/>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sym typeface="+mn-ea"/>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优化数币账户和银行账户配置、账户</a:t>
            </a:r>
            <a:r>
              <a:rPr lang="zh-CN" altLang="en-US" sz="1000" kern="2400">
                <a:ln w="3175">
                  <a:noFill/>
                </a:ln>
                <a:solidFill>
                  <a:schemeClr val="tx1"/>
                </a:solidFill>
                <a:uFillTx/>
              </a:rPr>
              <a:t>区隔。</a:t>
            </a:r>
            <a:endParaRPr lang="zh-CN" altLang="en-US"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p:txBody>
      </p:sp>
      <p:sp>
        <p:nvSpPr>
          <p:cNvPr id="24" name="文本框 23"/>
          <p:cNvSpPr txBox="1"/>
          <p:nvPr/>
        </p:nvSpPr>
        <p:spPr>
          <a:xfrm>
            <a:off x="6914515" y="3605530"/>
            <a:ext cx="1475740" cy="311277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确定合适的备付金水平精准预测市场需求</a:t>
            </a:r>
            <a:r>
              <a:rPr lang="en-US" altLang="zh-CN" sz="1000" kern="2400">
                <a:ln w="3175">
                  <a:noFill/>
                </a:ln>
                <a:solidFill>
                  <a:schemeClr val="tx1"/>
                </a:solidFill>
                <a:uFillTx/>
              </a:rPr>
              <a:t>, </a:t>
            </a:r>
            <a:r>
              <a:rPr lang="zh-CN" altLang="en-US" sz="1000" kern="2400">
                <a:ln w="3175">
                  <a:noFill/>
                </a:ln>
                <a:solidFill>
                  <a:schemeClr val="tx1"/>
                </a:solidFill>
                <a:uFillTx/>
              </a:rPr>
              <a:t>考虑到资金的机会成本。</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000" kern="2400">
                <a:ln w="3175">
                  <a:noFill/>
                </a:ln>
                <a:solidFill>
                  <a:schemeClr val="tx1"/>
                </a:solidFill>
                <a:uFillTx/>
              </a:rPr>
              <a:t>Free Cash / Crypto Flow</a:t>
            </a:r>
            <a:endParaRPr lang="en-US" altLang="zh-CN" sz="10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外部资产要求</a:t>
            </a:r>
            <a:r>
              <a:rPr lang="zh-CN" altLang="en-US" sz="1000" kern="2400">
                <a:ln w="3175">
                  <a:noFill/>
                </a:ln>
                <a:solidFill>
                  <a:schemeClr val="tx1"/>
                </a:solidFill>
                <a:uFillTx/>
              </a:rPr>
              <a:t>规划</a:t>
            </a:r>
            <a:endParaRPr lang="zh-CN" altLang="en-US" sz="10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000" kern="2400">
              <a:ln w="3175">
                <a:noFill/>
              </a:ln>
              <a:solidFill>
                <a:schemeClr val="tx1"/>
              </a:solidFill>
              <a:uFillTx/>
            </a:endParaRPr>
          </a:p>
        </p:txBody>
      </p:sp>
      <p:sp>
        <p:nvSpPr>
          <p:cNvPr id="3" name="文本框 2"/>
          <p:cNvSpPr txBox="1"/>
          <p:nvPr/>
        </p:nvSpPr>
        <p:spPr>
          <a:xfrm>
            <a:off x="194310" y="245110"/>
            <a:ext cx="7111365" cy="645160"/>
          </a:xfrm>
          <a:prstGeom prst="rect">
            <a:avLst/>
          </a:prstGeom>
          <a:noFill/>
        </p:spPr>
        <p:txBody>
          <a:bodyPr wrap="square" rtlCol="0">
            <a:spAutoFit/>
          </a:bodyPr>
          <a:p>
            <a:r>
              <a:rPr lang="en-US" altLang="zh-CN" b="1">
                <a:latin typeface="+mj-lt"/>
                <a:cs typeface="+mj-lt"/>
              </a:rPr>
              <a:t>Web3 Financial Management with Milestones:</a:t>
            </a:r>
            <a:br>
              <a:rPr lang="en-US" altLang="zh-CN" b="1">
                <a:latin typeface="+mj-lt"/>
                <a:cs typeface="+mj-lt"/>
              </a:rPr>
            </a:br>
            <a:r>
              <a:rPr lang="en-US" altLang="zh-CN" b="1">
                <a:latin typeface="+mj-lt"/>
                <a:cs typeface="+mj-lt"/>
              </a:rPr>
              <a:t>From Reporting to </a:t>
            </a:r>
            <a:r>
              <a:rPr lang="en-US" altLang="zh-CN" b="1">
                <a:latin typeface="+mj-lt"/>
                <a:cs typeface="+mj-lt"/>
              </a:rPr>
              <a:t>Future Growth</a:t>
            </a:r>
            <a:endParaRPr lang="en-US" altLang="zh-CN" b="1">
              <a:latin typeface="+mj-lt"/>
              <a:cs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51" name="直接连接符 50"/>
          <p:cNvCxnSpPr/>
          <p:nvPr/>
        </p:nvCxnSpPr>
        <p:spPr>
          <a:xfrm flipV="1">
            <a:off x="252095" y="126238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0" name="直接连接符 59"/>
          <p:cNvCxnSpPr/>
          <p:nvPr/>
        </p:nvCxnSpPr>
        <p:spPr>
          <a:xfrm flipV="1">
            <a:off x="326390" y="2369185"/>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1" name="直接连接符 60"/>
          <p:cNvCxnSpPr/>
          <p:nvPr/>
        </p:nvCxnSpPr>
        <p:spPr>
          <a:xfrm flipV="1">
            <a:off x="318135" y="3405505"/>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2" name="直接连接符 61"/>
          <p:cNvCxnSpPr/>
          <p:nvPr/>
        </p:nvCxnSpPr>
        <p:spPr>
          <a:xfrm flipV="1">
            <a:off x="383540" y="5159375"/>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cxnSp>
        <p:nvCxnSpPr>
          <p:cNvPr id="63" name="直接连接符 62"/>
          <p:cNvCxnSpPr/>
          <p:nvPr/>
        </p:nvCxnSpPr>
        <p:spPr>
          <a:xfrm flipV="1">
            <a:off x="383540" y="6301740"/>
            <a:ext cx="115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71" name="文本框 70"/>
          <p:cNvSpPr txBox="1"/>
          <p:nvPr/>
        </p:nvSpPr>
        <p:spPr>
          <a:xfrm>
            <a:off x="334010" y="138874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Revenue Recognition</a:t>
            </a:r>
            <a:endParaRPr lang="en-US" altLang="zh-CN" sz="1400">
              <a:ln w="3175">
                <a:noFill/>
              </a:ln>
            </a:endParaRPr>
          </a:p>
        </p:txBody>
      </p:sp>
      <p:sp>
        <p:nvSpPr>
          <p:cNvPr id="72" name="文本框 71"/>
          <p:cNvSpPr txBox="1"/>
          <p:nvPr/>
        </p:nvSpPr>
        <p:spPr>
          <a:xfrm>
            <a:off x="334010" y="2468880"/>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Cost </a:t>
            </a:r>
            <a:endParaRPr lang="en-US" altLang="zh-CN" sz="1400">
              <a:ln w="3175">
                <a:noFill/>
              </a:ln>
            </a:endParaRPr>
          </a:p>
          <a:p>
            <a:pPr algn="l"/>
            <a:r>
              <a:rPr lang="en-US" altLang="zh-CN" sz="1400">
                <a:ln w="3175">
                  <a:noFill/>
                </a:ln>
              </a:rPr>
              <a:t>Management</a:t>
            </a:r>
            <a:endParaRPr lang="en-US" altLang="zh-CN" sz="1400">
              <a:ln w="3175">
                <a:noFill/>
              </a:ln>
            </a:endParaRPr>
          </a:p>
        </p:txBody>
      </p:sp>
      <p:sp>
        <p:nvSpPr>
          <p:cNvPr id="73" name="文本框 72"/>
          <p:cNvSpPr txBox="1"/>
          <p:nvPr/>
        </p:nvSpPr>
        <p:spPr>
          <a:xfrm>
            <a:off x="334010" y="3455670"/>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Crypto &amp; Fiat </a:t>
            </a:r>
            <a:endParaRPr lang="en-US" altLang="zh-CN" sz="1400">
              <a:ln w="3175">
                <a:noFill/>
              </a:ln>
            </a:endParaRPr>
          </a:p>
          <a:p>
            <a:pPr algn="l"/>
            <a:r>
              <a:rPr lang="en-US" altLang="zh-CN" sz="1400">
                <a:ln w="3175">
                  <a:noFill/>
                </a:ln>
              </a:rPr>
              <a:t>Flow</a:t>
            </a:r>
            <a:endParaRPr lang="en-US" altLang="zh-CN" sz="1400">
              <a:ln w="3175">
                <a:noFill/>
              </a:ln>
            </a:endParaRPr>
          </a:p>
        </p:txBody>
      </p:sp>
      <p:sp>
        <p:nvSpPr>
          <p:cNvPr id="74" name="文本框 73"/>
          <p:cNvSpPr txBox="1"/>
          <p:nvPr/>
        </p:nvSpPr>
        <p:spPr>
          <a:xfrm>
            <a:off x="383540" y="434784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Working Capital</a:t>
            </a:r>
            <a:endParaRPr lang="en-US" altLang="zh-CN" sz="1400">
              <a:ln w="3175">
                <a:noFill/>
              </a:ln>
            </a:endParaRPr>
          </a:p>
        </p:txBody>
      </p:sp>
      <p:sp>
        <p:nvSpPr>
          <p:cNvPr id="75" name="文本框 74"/>
          <p:cNvSpPr txBox="1"/>
          <p:nvPr/>
        </p:nvSpPr>
        <p:spPr>
          <a:xfrm>
            <a:off x="334010" y="5281295"/>
            <a:ext cx="1476000" cy="54800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l"/>
            <a:r>
              <a:rPr lang="en-US" altLang="zh-CN" sz="1400">
                <a:ln w="3175">
                  <a:noFill/>
                </a:ln>
              </a:rPr>
              <a:t>Bank Account &amp; Crypto Wallet</a:t>
            </a:r>
            <a:endParaRPr lang="en-US" altLang="zh-CN" sz="1400">
              <a:ln w="3175">
                <a:noFill/>
              </a:ln>
            </a:endParaRPr>
          </a:p>
        </p:txBody>
      </p:sp>
      <p:sp>
        <p:nvSpPr>
          <p:cNvPr id="79" name="文本框 78"/>
          <p:cNvSpPr txBox="1"/>
          <p:nvPr/>
        </p:nvSpPr>
        <p:spPr>
          <a:xfrm>
            <a:off x="8532495" y="1303020"/>
            <a:ext cx="1475740" cy="981075"/>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indent="0" algn="l">
              <a:buSzPct val="100000"/>
              <a:buFont typeface="Arial" panose="020B0604020202020204" pitchFamily="34" charset="0"/>
              <a:buNone/>
            </a:pPr>
            <a:endParaRPr lang="zh-CN" altLang="en-US" sz="800" kern="2400">
              <a:ln w="3175">
                <a:noFill/>
              </a:ln>
              <a:solidFill>
                <a:schemeClr val="tx1"/>
              </a:solidFill>
              <a:uFillTx/>
            </a:endParaRPr>
          </a:p>
        </p:txBody>
      </p:sp>
      <p:cxnSp>
        <p:nvCxnSpPr>
          <p:cNvPr id="144" name="直接连接符 143"/>
          <p:cNvCxnSpPr/>
          <p:nvPr/>
        </p:nvCxnSpPr>
        <p:spPr>
          <a:xfrm flipV="1">
            <a:off x="436880" y="4210050"/>
            <a:ext cx="1620000" cy="0"/>
          </a:xfrm>
          <a:prstGeom prst="line">
            <a:avLst/>
          </a:prstGeom>
          <a:ln>
            <a:solidFill>
              <a:schemeClr val="bg1">
                <a:lumMod val="95000"/>
              </a:schemeClr>
            </a:solidFill>
            <a:prstDash val="solid"/>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0081260" y="531495"/>
            <a:ext cx="1476000" cy="548005"/>
          </a:xfrm>
          <a:prstGeom prst="rect">
            <a:avLst/>
          </a:prstGeom>
          <a:noFill/>
          <a:ln w="3175" cap="flat" cmpd="sng" algn="ctr">
            <a:solidFill>
              <a:schemeClr val="tx1"/>
            </a:solid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algn="ctr"/>
            <a:r>
              <a:rPr lang="en-US" altLang="zh-CN" sz="1400">
                <a:ln w="3175">
                  <a:noFill/>
                </a:ln>
              </a:rPr>
              <a:t>Future</a:t>
            </a:r>
            <a:br>
              <a:rPr lang="en-US" altLang="zh-CN" sz="1400">
                <a:ln w="3175">
                  <a:noFill/>
                </a:ln>
              </a:rPr>
            </a:br>
            <a:r>
              <a:rPr lang="en-US" altLang="zh-CN" sz="1400">
                <a:ln w="3175">
                  <a:noFill/>
                </a:ln>
              </a:rPr>
              <a:t>Growth</a:t>
            </a:r>
            <a:endParaRPr lang="en-US" altLang="zh-CN" sz="1400">
              <a:ln w="3175">
                <a:noFill/>
              </a:ln>
            </a:endParaRPr>
          </a:p>
        </p:txBody>
      </p:sp>
      <p:sp>
        <p:nvSpPr>
          <p:cNvPr id="95" name="文本框 94"/>
          <p:cNvSpPr txBox="1"/>
          <p:nvPr/>
        </p:nvSpPr>
        <p:spPr>
          <a:xfrm>
            <a:off x="10081260" y="131572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为投资者和利益相关者提供透明和准确的业绩视图，吸引更多合作</a:t>
            </a:r>
            <a:r>
              <a:rPr lang="zh-CN" altLang="en-US" sz="1000" kern="2400">
                <a:ln w="3175">
                  <a:noFill/>
                </a:ln>
                <a:solidFill>
                  <a:schemeClr val="tx1"/>
                </a:solidFill>
                <a:uFillTx/>
              </a:rPr>
              <a:t>机会。</a:t>
            </a:r>
            <a:endParaRPr lang="zh-CN" altLang="en-US" sz="1000" kern="2400">
              <a:ln w="3175">
                <a:noFill/>
              </a:ln>
              <a:solidFill>
                <a:schemeClr val="tx1"/>
              </a:solidFill>
              <a:uFillTx/>
            </a:endParaRPr>
          </a:p>
        </p:txBody>
      </p:sp>
      <p:sp>
        <p:nvSpPr>
          <p:cNvPr id="101" name="文本框 100"/>
          <p:cNvSpPr txBox="1"/>
          <p:nvPr/>
        </p:nvSpPr>
        <p:spPr>
          <a:xfrm>
            <a:off x="10081260" y="248666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在高度竞争的数字货币领域保持竞争优势。</a:t>
            </a:r>
            <a:endParaRPr lang="en-US" altLang="zh-CN" sz="1000" kern="2400">
              <a:ln w="3175">
                <a:noFill/>
              </a:ln>
              <a:solidFill>
                <a:schemeClr val="tx1"/>
              </a:solidFill>
              <a:uFillTx/>
            </a:endParaRPr>
          </a:p>
        </p:txBody>
      </p:sp>
      <p:sp>
        <p:nvSpPr>
          <p:cNvPr id="120" name="文本框 119"/>
          <p:cNvSpPr txBox="1"/>
          <p:nvPr/>
        </p:nvSpPr>
        <p:spPr>
          <a:xfrm>
            <a:off x="10081260" y="354203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优化应收账款、应付账款环节，加速资金周转</a:t>
            </a:r>
            <a:r>
              <a:rPr lang="en-US" altLang="zh-CN" sz="1000" kern="2400">
                <a:ln w="3175">
                  <a:noFill/>
                </a:ln>
                <a:solidFill>
                  <a:schemeClr val="tx1"/>
                </a:solidFill>
                <a:uFillTx/>
              </a:rPr>
              <a:t>, </a:t>
            </a:r>
            <a:r>
              <a:rPr lang="zh-CN" altLang="en-US" sz="1000" kern="2400">
                <a:ln w="3175">
                  <a:noFill/>
                </a:ln>
                <a:solidFill>
                  <a:schemeClr val="tx1"/>
                </a:solidFill>
                <a:uFillTx/>
              </a:rPr>
              <a:t>为应对数币市场波动和抓住给予充足和灵活的资金储备。</a:t>
            </a:r>
            <a:endParaRPr lang="en-US" altLang="zh-CN" sz="1000" kern="2400">
              <a:ln w="3175">
                <a:noFill/>
              </a:ln>
              <a:solidFill>
                <a:schemeClr val="tx1"/>
              </a:solidFill>
              <a:uFillTx/>
            </a:endParaRPr>
          </a:p>
        </p:txBody>
      </p:sp>
      <p:sp>
        <p:nvSpPr>
          <p:cNvPr id="127" name="文本框 126"/>
          <p:cNvSpPr txBox="1"/>
          <p:nvPr/>
        </p:nvSpPr>
        <p:spPr>
          <a:xfrm>
            <a:off x="10081260" y="5170170"/>
            <a:ext cx="1475740"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000" kern="2400">
                <a:ln w="3175">
                  <a:noFill/>
                </a:ln>
                <a:solidFill>
                  <a:schemeClr val="tx1"/>
                </a:solidFill>
                <a:uFillTx/>
              </a:rPr>
              <a:t>集成化的财务管理工具监控资金流动，实施财务规划，减少交易成本和风险。</a:t>
            </a:r>
            <a:endParaRPr lang="zh-CN" altLang="en-US" sz="1000" kern="2400">
              <a:ln w="3175">
                <a:noFill/>
              </a:ln>
              <a:solidFill>
                <a:schemeClr val="tx1"/>
              </a:solidFill>
              <a:uFillTx/>
            </a:endParaRPr>
          </a:p>
        </p:txBody>
      </p:sp>
      <p:sp>
        <p:nvSpPr>
          <p:cNvPr id="2" name="文本框 1"/>
          <p:cNvSpPr txBox="1"/>
          <p:nvPr/>
        </p:nvSpPr>
        <p:spPr>
          <a:xfrm>
            <a:off x="2112645" y="1322705"/>
            <a:ext cx="7502525"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zh-CN" altLang="en-US" sz="1200" kern="2400">
              <a:ln w="3175">
                <a:noFill/>
              </a:ln>
              <a:solidFill>
                <a:schemeClr val="tx1"/>
              </a:solidFill>
              <a:uFillTx/>
            </a:endParaRPr>
          </a:p>
        </p:txBody>
      </p:sp>
      <p:sp>
        <p:nvSpPr>
          <p:cNvPr id="4" name="文本框 3"/>
          <p:cNvSpPr txBox="1"/>
          <p:nvPr/>
        </p:nvSpPr>
        <p:spPr>
          <a:xfrm>
            <a:off x="2219325" y="3658870"/>
            <a:ext cx="7502525"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endParaRPr lang="en-US" altLang="zh-CN" sz="1200" kern="2400">
              <a:ln w="3175">
                <a:noFill/>
              </a:ln>
              <a:solidFill>
                <a:schemeClr val="tx1"/>
              </a:solidFill>
              <a:uFillTx/>
            </a:endParaRPr>
          </a:p>
        </p:txBody>
      </p:sp>
      <p:sp>
        <p:nvSpPr>
          <p:cNvPr id="7" name="文本框 6"/>
          <p:cNvSpPr txBox="1"/>
          <p:nvPr/>
        </p:nvSpPr>
        <p:spPr>
          <a:xfrm>
            <a:off x="2218690" y="5307965"/>
            <a:ext cx="7502525"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推动账户数币账户间区隔管理，并定期验证账户区隔的准确性和完整性。</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储备数字货币存储和安全措施。</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开放银行账户费率表，增强业务发展。</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200" kern="2400">
              <a:ln w="3175">
                <a:noFill/>
              </a:ln>
              <a:solidFill>
                <a:schemeClr val="tx1"/>
              </a:solidFill>
              <a:uFillTx/>
            </a:endParaRPr>
          </a:p>
        </p:txBody>
      </p:sp>
      <p:sp>
        <p:nvSpPr>
          <p:cNvPr id="8" name="文本框 7"/>
          <p:cNvSpPr txBox="1"/>
          <p:nvPr/>
        </p:nvSpPr>
        <p:spPr>
          <a:xfrm>
            <a:off x="2218690" y="2400935"/>
            <a:ext cx="7502525"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通过财务管理工具，实现资金流动的</a:t>
            </a:r>
            <a:r>
              <a:rPr lang="zh-CN" altLang="en-US" sz="1200" kern="2400">
                <a:ln w="3175">
                  <a:noFill/>
                </a:ln>
                <a:solidFill>
                  <a:schemeClr val="tx1"/>
                </a:solidFill>
                <a:uFillTx/>
              </a:rPr>
              <a:t>每日</a:t>
            </a:r>
            <a:r>
              <a:rPr lang="en-US" altLang="zh-CN" sz="1200" kern="2400">
                <a:ln w="3175">
                  <a:noFill/>
                </a:ln>
                <a:solidFill>
                  <a:schemeClr val="tx1"/>
                </a:solidFill>
                <a:uFillTx/>
              </a:rPr>
              <a:t>监控，减少不必要交易成本。</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实施T+1商家结算保障措施</a:t>
            </a:r>
            <a:r>
              <a:rPr lang="zh-CN" altLang="en-US" sz="1200" kern="2400">
                <a:ln w="3175">
                  <a:noFill/>
                </a:ln>
                <a:solidFill>
                  <a:schemeClr val="tx1"/>
                </a:solidFill>
                <a:uFillTx/>
              </a:rPr>
              <a:t>，</a:t>
            </a:r>
            <a:r>
              <a:rPr lang="en-US" altLang="zh-CN" sz="1200" kern="2400">
                <a:ln w="3175">
                  <a:noFill/>
                </a:ln>
                <a:solidFill>
                  <a:schemeClr val="tx1"/>
                </a:solidFill>
                <a:uFillTx/>
              </a:rPr>
              <a:t>提升商户资金周转速度，缩短结算周期，</a:t>
            </a:r>
            <a:r>
              <a:rPr lang="zh-CN" altLang="en-US" sz="1200" kern="2400">
                <a:ln w="3175">
                  <a:noFill/>
                </a:ln>
                <a:solidFill>
                  <a:schemeClr val="tx1"/>
                </a:solidFill>
                <a:uFillTx/>
              </a:rPr>
              <a:t>响应客户需求，</a:t>
            </a:r>
            <a:r>
              <a:rPr lang="en-US" altLang="zh-CN" sz="1200" kern="2400">
                <a:ln w="3175">
                  <a:noFill/>
                </a:ln>
                <a:solidFill>
                  <a:schemeClr val="tx1"/>
                </a:solidFill>
                <a:uFillTx/>
              </a:rPr>
              <a:t>提高商户满意度</a:t>
            </a:r>
            <a:r>
              <a:rPr lang="zh-CN" altLang="en-US" sz="1200" kern="2400">
                <a:ln w="3175">
                  <a:noFill/>
                </a:ln>
                <a:solidFill>
                  <a:schemeClr val="tx1"/>
                </a:solidFill>
                <a:uFillTx/>
              </a:rPr>
              <a:t>。</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完成R&amp;D</a:t>
            </a:r>
            <a:r>
              <a:rPr lang="zh-CN" altLang="en-US" sz="1200" kern="2400">
                <a:ln w="3175">
                  <a:noFill/>
                </a:ln>
                <a:solidFill>
                  <a:schemeClr val="tx1"/>
                </a:solidFill>
                <a:uFillTx/>
              </a:rPr>
              <a:t>人工成本</a:t>
            </a:r>
            <a:r>
              <a:rPr lang="en-US" altLang="zh-CN" sz="1200" kern="2400">
                <a:ln w="3175">
                  <a:noFill/>
                </a:ln>
                <a:solidFill>
                  <a:schemeClr val="tx1"/>
                </a:solidFill>
                <a:uFillTx/>
              </a:rPr>
              <a:t>及佣金披露调整，确保成本报告的准确性和及时性</a:t>
            </a:r>
            <a:r>
              <a:rPr lang="zh-CN" altLang="en-US" sz="1200" kern="2400">
                <a:ln w="3175">
                  <a:noFill/>
                </a:ln>
                <a:solidFill>
                  <a:schemeClr val="tx1"/>
                </a:solidFill>
                <a:uFillTx/>
              </a:rPr>
              <a:t>。</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uFillTx/>
                <a:sym typeface="+mn-ea"/>
              </a:rPr>
              <a:t>涌现的商业模式成本效益分析，</a:t>
            </a:r>
            <a:r>
              <a:rPr lang="zh-CN" altLang="en-US" sz="1200" kern="2400">
                <a:ln w="3175">
                  <a:noFill/>
                </a:ln>
                <a:uFillTx/>
                <a:sym typeface="+mn-ea"/>
              </a:rPr>
              <a:t>助理公司销售业绩增长和客户数</a:t>
            </a:r>
            <a:r>
              <a:rPr lang="zh-CN" altLang="en-US" sz="1200" kern="2400">
                <a:ln w="3175">
                  <a:noFill/>
                </a:ln>
                <a:uFillTx/>
                <a:sym typeface="+mn-ea"/>
              </a:rPr>
              <a:t>增长。</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endParaRPr lang="zh-CN" altLang="en-US" sz="1200" kern="2400">
              <a:ln w="3175">
                <a:noFill/>
              </a:ln>
              <a:solidFill>
                <a:schemeClr val="tx1"/>
              </a:solidFill>
              <a:uFillTx/>
            </a:endParaRPr>
          </a:p>
        </p:txBody>
      </p:sp>
      <p:sp>
        <p:nvSpPr>
          <p:cNvPr id="9" name="文本框 8"/>
          <p:cNvSpPr txBox="1"/>
          <p:nvPr/>
        </p:nvSpPr>
        <p:spPr>
          <a:xfrm>
            <a:off x="2218690" y="1322070"/>
            <a:ext cx="7502525" cy="98679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完善财务报告体系，确保财务数据及时可查，提高报告效率</a:t>
            </a:r>
            <a:r>
              <a:rPr lang="en-US" altLang="zh-CN" sz="1200" kern="2400">
                <a:ln w="3175">
                  <a:noFill/>
                </a:ln>
                <a:solidFill>
                  <a:schemeClr val="tx1"/>
                </a:solidFill>
                <a:uFillTx/>
              </a:rPr>
              <a:t>20%</a:t>
            </a:r>
            <a:r>
              <a:rPr lang="zh-CN" altLang="en-US" sz="1200" kern="2400">
                <a:ln w="3175">
                  <a:noFill/>
                </a:ln>
                <a:solidFill>
                  <a:schemeClr val="tx1"/>
                </a:solidFill>
                <a:uFillTx/>
              </a:rPr>
              <a:t>。</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实施会计科目调整，确保经调整后的报表符合最新的国际财务报表标准和数字货币相关的会计准则。</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深入</a:t>
            </a:r>
            <a:r>
              <a:rPr lang="zh-CN" altLang="en-US" sz="1200" kern="2400">
                <a:ln w="3175">
                  <a:noFill/>
                </a:ln>
                <a:solidFill>
                  <a:schemeClr val="tx1"/>
                </a:solidFill>
                <a:uFillTx/>
              </a:rPr>
              <a:t>业务，发布确认不同主体收入确认的标准，确保团队成员理解并</a:t>
            </a:r>
            <a:r>
              <a:rPr lang="zh-CN" altLang="en-US" sz="1200" kern="2400">
                <a:ln w="3175">
                  <a:noFill/>
                </a:ln>
                <a:solidFill>
                  <a:schemeClr val="tx1"/>
                </a:solidFill>
                <a:uFillTx/>
              </a:rPr>
              <a:t>执行。</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开始</a:t>
            </a:r>
            <a:r>
              <a:rPr lang="zh-CN" altLang="en-US" sz="1200" kern="2400">
                <a:ln w="3175">
                  <a:noFill/>
                </a:ln>
                <a:solidFill>
                  <a:schemeClr val="tx1"/>
                </a:solidFill>
                <a:uFillTx/>
              </a:rPr>
              <a:t>建设数字货币业务税务跟踪系统，及时跟进并遵守最新的加密货币税收</a:t>
            </a:r>
            <a:r>
              <a:rPr lang="zh-CN" altLang="en-US" sz="1200" kern="2400">
                <a:ln w="3175">
                  <a:noFill/>
                </a:ln>
                <a:solidFill>
                  <a:schemeClr val="tx1"/>
                </a:solidFill>
                <a:uFillTx/>
              </a:rPr>
              <a:t>政策。</a:t>
            </a:r>
            <a:endParaRPr lang="zh-CN" altLang="en-US" sz="1200" kern="2400">
              <a:ln w="3175">
                <a:noFill/>
              </a:ln>
              <a:solidFill>
                <a:schemeClr val="tx1"/>
              </a:solidFill>
              <a:uFillTx/>
            </a:endParaRPr>
          </a:p>
        </p:txBody>
      </p:sp>
      <p:sp>
        <p:nvSpPr>
          <p:cNvPr id="10" name="文本框 9"/>
          <p:cNvSpPr txBox="1"/>
          <p:nvPr/>
        </p:nvSpPr>
        <p:spPr>
          <a:xfrm>
            <a:off x="2218690" y="3716655"/>
            <a:ext cx="7502525" cy="1162050"/>
          </a:xfrm>
          <a:prstGeom prst="rect">
            <a:avLst/>
          </a:prstGeom>
          <a:noFill/>
          <a:ln w="3175" cap="flat" cmpd="sng" algn="ctr">
            <a:noFill/>
            <a:prstDash val="solid"/>
            <a:miter lim="800000"/>
          </a:ln>
          <a:extLst>
            <a:ext uri="{909E8E84-426E-40DD-AFC4-6F175D3DCCD1}">
              <a14:hiddenFill xmlns:a14="http://schemas.microsoft.com/office/drawing/2010/main">
                <a:solidFill>
                  <a:schemeClr val="tx1"/>
                </a:solidFill>
              </a14:hiddenFill>
            </a:ext>
          </a:extLst>
        </p:spPr>
        <p:style>
          <a:lnRef idx="0">
            <a:schemeClr val="accent1"/>
          </a:lnRef>
          <a:fillRef idx="0">
            <a:srgbClr val="FFFFFF"/>
          </a:fillRef>
          <a:effectRef idx="0">
            <a:srgbClr val="FFFFFF"/>
          </a:effectRef>
          <a:fontRef idx="minor">
            <a:schemeClr val="tx1"/>
          </a:fontRef>
        </p:style>
        <p:txBody>
          <a:bodyPr wrap="square" rtlCol="0">
            <a:noAutofit/>
          </a:bodyPr>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优化银行账户</a:t>
            </a:r>
            <a:r>
              <a:rPr lang="zh-CN" altLang="en-US" sz="1200" kern="2400">
                <a:ln w="3175">
                  <a:noFill/>
                </a:ln>
                <a:solidFill>
                  <a:schemeClr val="tx1"/>
                </a:solidFill>
                <a:uFillTx/>
              </a:rPr>
              <a:t>和数币账户</a:t>
            </a:r>
            <a:r>
              <a:rPr lang="en-US" altLang="zh-CN" sz="1200" kern="2400">
                <a:ln w="3175">
                  <a:noFill/>
                </a:ln>
                <a:solidFill>
                  <a:schemeClr val="tx1"/>
                </a:solidFill>
                <a:uFillTx/>
              </a:rPr>
              <a:t>配置，</a:t>
            </a:r>
            <a:r>
              <a:rPr lang="zh-CN" altLang="en-US" sz="1200" kern="2400">
                <a:ln w="3175">
                  <a:noFill/>
                </a:ln>
                <a:solidFill>
                  <a:schemeClr val="tx1"/>
                </a:solidFill>
                <a:uFillTx/>
              </a:rPr>
              <a:t>结合</a:t>
            </a:r>
            <a:r>
              <a:rPr lang="en-US" altLang="zh-CN" sz="1200" kern="2400">
                <a:ln w="3175">
                  <a:noFill/>
                </a:ln>
                <a:solidFill>
                  <a:schemeClr val="tx1"/>
                </a:solidFill>
                <a:uFillTx/>
              </a:rPr>
              <a:t>跨境人民币结算，降低交易成本。</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en-US" altLang="zh-CN" sz="1200" kern="2400">
                <a:ln w="3175">
                  <a:noFill/>
                </a:ln>
                <a:solidFill>
                  <a:schemeClr val="tx1"/>
                </a:solidFill>
                <a:uFillTx/>
              </a:rPr>
              <a:t>建立并执行储备基金（1:1）监控机制，确保任何时候备付金与客户资金保持等额</a:t>
            </a:r>
            <a:r>
              <a:rPr lang="zh-CN" altLang="en-US" sz="1200" kern="2400">
                <a:ln w="3175">
                  <a:noFill/>
                </a:ln>
                <a:solidFill>
                  <a:schemeClr val="tx1"/>
                </a:solidFill>
                <a:uFillTx/>
              </a:rPr>
              <a:t>，提升合规</a:t>
            </a:r>
            <a:r>
              <a:rPr lang="zh-CN" altLang="en-US" sz="1200" kern="2400">
                <a:ln w="3175">
                  <a:noFill/>
                </a:ln>
                <a:solidFill>
                  <a:schemeClr val="tx1"/>
                </a:solidFill>
                <a:uFillTx/>
              </a:rPr>
              <a:t>信任。</a:t>
            </a:r>
            <a:endParaRPr lang="zh-CN" altLang="en-US"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solidFill>
                  <a:schemeClr val="tx1"/>
                </a:solidFill>
                <a:uFillTx/>
              </a:rPr>
              <a:t>追踪</a:t>
            </a:r>
            <a:r>
              <a:rPr lang="en-US" altLang="zh-CN" sz="1200" kern="2400">
                <a:ln w="3175">
                  <a:noFill/>
                </a:ln>
                <a:solidFill>
                  <a:schemeClr val="tx1"/>
                </a:solidFill>
                <a:uFillTx/>
              </a:rPr>
              <a:t>完成坏账核销，减少坏账损失率至历史最低水平。</a:t>
            </a:r>
            <a:endParaRPr lang="en-US" altLang="zh-CN" sz="1200" kern="2400">
              <a:ln w="3175">
                <a:noFill/>
              </a:ln>
              <a:solidFill>
                <a:schemeClr val="tx1"/>
              </a:solidFill>
              <a:uFillTx/>
            </a:endParaRPr>
          </a:p>
          <a:p>
            <a:pPr marL="171450" indent="-171450" algn="l" fontAlgn="auto">
              <a:lnSpc>
                <a:spcPts val="1800"/>
              </a:lnSpc>
              <a:buSzPct val="100000"/>
              <a:buFont typeface="Arial" panose="020B0604020202020204" pitchFamily="34" charset="0"/>
              <a:buChar char="•"/>
            </a:pPr>
            <a:r>
              <a:rPr lang="zh-CN" altLang="en-US" sz="1200" kern="2400">
                <a:ln w="3175">
                  <a:noFill/>
                </a:ln>
                <a:uFillTx/>
                <a:sym typeface="+mn-ea"/>
              </a:rPr>
              <a:t>设计高效的资金调度制度和垫资策略，以应对更快速的资金流转周期。</a:t>
            </a:r>
            <a:endParaRPr lang="zh-CN" altLang="en-US" sz="1200" kern="2400">
              <a:ln w="3175">
                <a:noFill/>
              </a:ln>
              <a:uFillTx/>
              <a:sym typeface="+mn-ea"/>
            </a:endParaRPr>
          </a:p>
          <a:p>
            <a:pPr marL="171450" indent="-171450" algn="l" fontAlgn="auto">
              <a:lnSpc>
                <a:spcPts val="1800"/>
              </a:lnSpc>
              <a:buSzPct val="100000"/>
              <a:buFont typeface="Arial" panose="020B0604020202020204" pitchFamily="34" charset="0"/>
              <a:buChar char="•"/>
            </a:pPr>
            <a:r>
              <a:rPr lang="zh-CN" altLang="en-US" sz="1200" kern="2400">
                <a:ln w="3175">
                  <a:noFill/>
                </a:ln>
                <a:uFillTx/>
                <a:sym typeface="+mn-ea"/>
              </a:rPr>
              <a:t>实现营运资本需求预测及关键指标管理初级目标。</a:t>
            </a:r>
            <a:endParaRPr lang="zh-CN" altLang="en-US" sz="1200" kern="2400">
              <a:ln w="3175">
                <a:noFill/>
              </a:ln>
              <a:solidFill>
                <a:schemeClr val="tx1"/>
              </a:solidFill>
              <a:uFillTx/>
            </a:endParaRPr>
          </a:p>
          <a:p>
            <a:pPr indent="0" algn="l" fontAlgn="auto">
              <a:lnSpc>
                <a:spcPts val="1800"/>
              </a:lnSpc>
              <a:buSzPct val="100000"/>
              <a:buFont typeface="Arial" panose="020B0604020202020204" pitchFamily="34" charset="0"/>
              <a:buNone/>
            </a:pPr>
            <a:endParaRPr lang="en-US" altLang="zh-CN" sz="1200" kern="2400">
              <a:ln w="3175">
                <a:noFill/>
              </a:ln>
              <a:solidFill>
                <a:schemeClr val="tx1"/>
              </a:solidFill>
              <a:uFillTx/>
            </a:endParaRPr>
          </a:p>
        </p:txBody>
      </p:sp>
      <p:sp>
        <p:nvSpPr>
          <p:cNvPr id="3" name="文本框 2"/>
          <p:cNvSpPr txBox="1"/>
          <p:nvPr/>
        </p:nvSpPr>
        <p:spPr>
          <a:xfrm>
            <a:off x="194310" y="245110"/>
            <a:ext cx="7111365" cy="645160"/>
          </a:xfrm>
          <a:prstGeom prst="rect">
            <a:avLst/>
          </a:prstGeom>
          <a:noFill/>
        </p:spPr>
        <p:txBody>
          <a:bodyPr wrap="square" rtlCol="0">
            <a:spAutoFit/>
          </a:bodyPr>
          <a:p>
            <a:r>
              <a:rPr lang="en-US" altLang="zh-CN" b="1">
                <a:latin typeface="+mj-lt"/>
                <a:cs typeface="+mj-lt"/>
              </a:rPr>
              <a:t>Web3 Financial Management with Milestones:</a:t>
            </a:r>
            <a:br>
              <a:rPr lang="en-US" altLang="zh-CN" b="1">
                <a:latin typeface="+mj-lt"/>
                <a:cs typeface="+mj-lt"/>
              </a:rPr>
            </a:br>
            <a:r>
              <a:rPr lang="en-US" altLang="zh-CN" b="1">
                <a:latin typeface="+mj-lt"/>
                <a:cs typeface="+mj-lt"/>
              </a:rPr>
              <a:t>From Reporting to </a:t>
            </a:r>
            <a:r>
              <a:rPr lang="en-US" altLang="zh-CN" b="1">
                <a:latin typeface="+mj-lt"/>
                <a:cs typeface="+mj-lt"/>
              </a:rPr>
              <a:t>Future Growth</a:t>
            </a:r>
            <a:endParaRPr lang="en-US" altLang="zh-CN" b="1">
              <a:latin typeface="+mj-lt"/>
              <a:cs typeface="+mj-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commondata" val="eyJoZGlkIjoiMGYzZWE4YjQ4NTI3ZTYzZjczODFmMjhjMWIwYTlkOG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4198</Words>
  <Application>WPS 演示</Application>
  <PresentationFormat>宽屏</PresentationFormat>
  <Paragraphs>396</Paragraphs>
  <Slides>5</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沁</cp:lastModifiedBy>
  <cp:revision>374</cp:revision>
  <dcterms:created xsi:type="dcterms:W3CDTF">2019-06-19T02:08:00Z</dcterms:created>
  <dcterms:modified xsi:type="dcterms:W3CDTF">2026-02-26T02:48:42Z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3CABEC79DF44474E82C034123F3858BC_13</vt:lpwstr>
  </property>
</Properties>
</file>